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4"/>
  </p:notesMasterIdLst>
  <p:sldIdLst>
    <p:sldId id="256" r:id="rId2"/>
    <p:sldId id="278" r:id="rId3"/>
    <p:sldId id="269" r:id="rId4"/>
    <p:sldId id="270" r:id="rId5"/>
    <p:sldId id="271" r:id="rId6"/>
    <p:sldId id="272" r:id="rId7"/>
    <p:sldId id="274" r:id="rId8"/>
    <p:sldId id="275" r:id="rId9"/>
    <p:sldId id="276" r:id="rId10"/>
    <p:sldId id="277" r:id="rId11"/>
    <p:sldId id="267" r:id="rId12"/>
    <p:sldId id="268" r:id="rId1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0" roundtripDataSignature="AMtx7mi/cUXHzJqeTRfOqy+D7uOzYdGp/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86EEBC-BEEA-46B4-8F15-4364CF024BBC}" v="2" dt="2025-10-15T08:48:13.199"/>
  </p1510:revLst>
</p1510:revInfo>
</file>

<file path=ppt/tableStyles.xml><?xml version="1.0" encoding="utf-8"?>
<a:tblStyleLst xmlns:a="http://schemas.openxmlformats.org/drawingml/2006/main" def="{AE997644-658D-4DC0-93D6-BF85825E38D0}">
  <a:tblStyle styleId="{AE997644-658D-4DC0-93D6-BF85825E38D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8" d="100"/>
          <a:sy n="88" d="100"/>
        </p:scale>
        <p:origin x="588" y="6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25" Type="http://schemas.microsoft.com/office/2016/11/relationships/changesInfo" Target="changesInfos/changesInfo1.xml"/><Relationship Id="rId2" Type="http://schemas.openxmlformats.org/officeDocument/2006/relationships/slide" Target="slides/slide1.xml"/><Relationship Id="rId2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23"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swin Sripatnala" userId="c11eb49e017c0d75" providerId="LiveId" clId="{7A968074-F52C-418D-99BB-34FFD930F5A1}"/>
    <pc:docChg chg="undo redo custSel addSld delSld modSld sldOrd">
      <pc:chgData name="Manaswin Sripatnala" userId="c11eb49e017c0d75" providerId="LiveId" clId="{7A968074-F52C-418D-99BB-34FFD930F5A1}" dt="2025-10-15T09:00:41.071" v="57" actId="478"/>
      <pc:docMkLst>
        <pc:docMk/>
      </pc:docMkLst>
      <pc:sldChg chg="modSp mod">
        <pc:chgData name="Manaswin Sripatnala" userId="c11eb49e017c0d75" providerId="LiveId" clId="{7A968074-F52C-418D-99BB-34FFD930F5A1}" dt="2025-09-18T05:46:57.186" v="20" actId="20577"/>
        <pc:sldMkLst>
          <pc:docMk/>
          <pc:sldMk cId="4269062117" sldId="272"/>
        </pc:sldMkLst>
        <pc:spChg chg="mod">
          <ac:chgData name="Manaswin Sripatnala" userId="c11eb49e017c0d75" providerId="LiveId" clId="{7A968074-F52C-418D-99BB-34FFD930F5A1}" dt="2025-09-18T05:46:57.186" v="20" actId="20577"/>
          <ac:spMkLst>
            <pc:docMk/>
            <pc:sldMk cId="4269062117" sldId="272"/>
            <ac:spMk id="3" creationId="{3999DC9B-F010-1D87-293B-9DA5331281BE}"/>
          </ac:spMkLst>
        </pc:spChg>
      </pc:sldChg>
      <pc:sldChg chg="modSp mod">
        <pc:chgData name="Manaswin Sripatnala" userId="c11eb49e017c0d75" providerId="LiveId" clId="{7A968074-F52C-418D-99BB-34FFD930F5A1}" dt="2025-09-18T05:45:54.909" v="16" actId="12385"/>
        <pc:sldMkLst>
          <pc:docMk/>
          <pc:sldMk cId="4116398536" sldId="274"/>
        </pc:sldMkLst>
        <pc:graphicFrameChg chg="mod modGraphic">
          <ac:chgData name="Manaswin Sripatnala" userId="c11eb49e017c0d75" providerId="LiveId" clId="{7A968074-F52C-418D-99BB-34FFD930F5A1}" dt="2025-09-18T05:45:54.909" v="16" actId="12385"/>
          <ac:graphicFrameMkLst>
            <pc:docMk/>
            <pc:sldMk cId="4116398536" sldId="274"/>
            <ac:graphicFrameMk id="11" creationId="{076037E4-63FA-15FD-E7FB-13EFE444896C}"/>
          </ac:graphicFrameMkLst>
        </pc:graphicFrameChg>
      </pc:sldChg>
      <pc:sldChg chg="modSp mod">
        <pc:chgData name="Manaswin Sripatnala" userId="c11eb49e017c0d75" providerId="LiveId" clId="{7A968074-F52C-418D-99BB-34FFD930F5A1}" dt="2025-09-18T05:45:54.188" v="14" actId="12385"/>
        <pc:sldMkLst>
          <pc:docMk/>
          <pc:sldMk cId="3193031220" sldId="275"/>
        </pc:sldMkLst>
        <pc:graphicFrameChg chg="mod modGraphic">
          <ac:chgData name="Manaswin Sripatnala" userId="c11eb49e017c0d75" providerId="LiveId" clId="{7A968074-F52C-418D-99BB-34FFD930F5A1}" dt="2025-09-18T05:45:54.188" v="14" actId="12385"/>
          <ac:graphicFrameMkLst>
            <pc:docMk/>
            <pc:sldMk cId="3193031220" sldId="275"/>
            <ac:graphicFrameMk id="6" creationId="{AE17E4D3-431C-6C14-430B-A3DE73B53E3D}"/>
          </ac:graphicFrameMkLst>
        </pc:graphicFrameChg>
      </pc:sldChg>
      <pc:sldChg chg="addSp delSp modSp mod ord">
        <pc:chgData name="Manaswin Sripatnala" userId="c11eb49e017c0d75" providerId="LiveId" clId="{7A968074-F52C-418D-99BB-34FFD930F5A1}" dt="2025-10-15T09:00:41.071" v="57" actId="478"/>
        <pc:sldMkLst>
          <pc:docMk/>
          <pc:sldMk cId="1190435725" sldId="278"/>
        </pc:sldMkLst>
        <pc:graphicFrameChg chg="add del mod modGraphic">
          <ac:chgData name="Manaswin Sripatnala" userId="c11eb49e017c0d75" providerId="LiveId" clId="{7A968074-F52C-418D-99BB-34FFD930F5A1}" dt="2025-10-15T08:46:36.761" v="25" actId="478"/>
          <ac:graphicFrameMkLst>
            <pc:docMk/>
            <pc:sldMk cId="1190435725" sldId="278"/>
            <ac:graphicFrameMk id="5" creationId="{D6A8A2FF-49CB-921B-11A3-66FE4A09B38E}"/>
          </ac:graphicFrameMkLst>
        </pc:graphicFrameChg>
        <pc:graphicFrameChg chg="add del mod modGraphic">
          <ac:chgData name="Manaswin Sripatnala" userId="c11eb49e017c0d75" providerId="LiveId" clId="{7A968074-F52C-418D-99BB-34FFD930F5A1}" dt="2025-10-15T09:00:41.071" v="57" actId="478"/>
          <ac:graphicFrameMkLst>
            <pc:docMk/>
            <pc:sldMk cId="1190435725" sldId="278"/>
            <ac:graphicFrameMk id="9" creationId="{FED0CF87-E56E-8F6D-CA2F-105B231E7AE5}"/>
          </ac:graphicFrameMkLst>
        </pc:graphicFrameChg>
        <pc:picChg chg="mod">
          <ac:chgData name="Manaswin Sripatnala" userId="c11eb49e017c0d75" providerId="LiveId" clId="{7A968074-F52C-418D-99BB-34FFD930F5A1}" dt="2025-09-18T05:06:40.097" v="0" actId="208"/>
          <ac:picMkLst>
            <pc:docMk/>
            <pc:sldMk cId="1190435725" sldId="278"/>
            <ac:picMk id="6" creationId="{A676B75C-697F-F7FC-EE64-4DEE025085ED}"/>
          </ac:picMkLst>
        </pc:picChg>
      </pc:sldChg>
      <pc:sldChg chg="addSp delSp modSp new del mod">
        <pc:chgData name="Manaswin Sripatnala" userId="c11eb49e017c0d75" providerId="LiveId" clId="{7A968074-F52C-418D-99BB-34FFD930F5A1}" dt="2025-10-15T08:48:38.702" v="55" actId="47"/>
        <pc:sldMkLst>
          <pc:docMk/>
          <pc:sldMk cId="1934450966" sldId="279"/>
        </pc:sldMkLst>
        <pc:spChg chg="del">
          <ac:chgData name="Manaswin Sripatnala" userId="c11eb49e017c0d75" providerId="LiveId" clId="{7A968074-F52C-418D-99BB-34FFD930F5A1}" dt="2025-10-15T08:47:05.226" v="29" actId="478"/>
          <ac:spMkLst>
            <pc:docMk/>
            <pc:sldMk cId="1934450966" sldId="279"/>
            <ac:spMk id="2" creationId="{46A0B20D-5555-C8D3-FB55-16D2D8E286F1}"/>
          </ac:spMkLst>
        </pc:spChg>
        <pc:spChg chg="del">
          <ac:chgData name="Manaswin Sripatnala" userId="c11eb49e017c0d75" providerId="LiveId" clId="{7A968074-F52C-418D-99BB-34FFD930F5A1}" dt="2025-10-15T08:47:05.226" v="29" actId="478"/>
          <ac:spMkLst>
            <pc:docMk/>
            <pc:sldMk cId="1934450966" sldId="279"/>
            <ac:spMk id="3" creationId="{C9DA3CFB-D02E-73C9-FC07-A03F2D6B3F5D}"/>
          </ac:spMkLst>
        </pc:spChg>
        <pc:spChg chg="add mod ord">
          <ac:chgData name="Manaswin Sripatnala" userId="c11eb49e017c0d75" providerId="LiveId" clId="{7A968074-F52C-418D-99BB-34FFD930F5A1}" dt="2025-10-15T08:47:51.866" v="46" actId="167"/>
          <ac:spMkLst>
            <pc:docMk/>
            <pc:sldMk cId="1934450966" sldId="279"/>
            <ac:spMk id="6" creationId="{2C970D08-F16A-BE1F-5AD6-22E0A2C0B6F0}"/>
          </ac:spMkLst>
        </pc:spChg>
        <pc:graphicFrameChg chg="add mod modGraphic">
          <ac:chgData name="Manaswin Sripatnala" userId="c11eb49e017c0d75" providerId="LiveId" clId="{7A968074-F52C-418D-99BB-34FFD930F5A1}" dt="2025-10-15T08:47:30.167" v="34" actId="1076"/>
          <ac:graphicFrameMkLst>
            <pc:docMk/>
            <pc:sldMk cId="1934450966" sldId="279"/>
            <ac:graphicFrameMk id="5" creationId="{765CF30E-D706-C94A-8D77-DE70063571B2}"/>
          </ac:graphicFrameMkLst>
        </pc:graphicFrameChg>
      </pc:sldChg>
      <pc:sldChg chg="modSp add del mod modTransition">
        <pc:chgData name="Manaswin Sripatnala" userId="c11eb49e017c0d75" providerId="LiveId" clId="{7A968074-F52C-418D-99BB-34FFD930F5A1}" dt="2025-10-15T08:48:39.501" v="56" actId="47"/>
        <pc:sldMkLst>
          <pc:docMk/>
          <pc:sldMk cId="1342840141" sldId="280"/>
        </pc:sldMkLst>
        <pc:spChg chg="mod">
          <ac:chgData name="Manaswin Sripatnala" userId="c11eb49e017c0d75" providerId="LiveId" clId="{7A968074-F52C-418D-99BB-34FFD930F5A1}" dt="2025-10-15T08:48:09.466" v="53" actId="1076"/>
          <ac:spMkLst>
            <pc:docMk/>
            <pc:sldMk cId="1342840141" sldId="280"/>
            <ac:spMk id="6" creationId="{F2110442-6359-56EC-8B30-2E65C01738AC}"/>
          </ac:spMkLst>
        </pc:spChg>
        <pc:graphicFrameChg chg="mod modGraphic">
          <ac:chgData name="Manaswin Sripatnala" userId="c11eb49e017c0d75" providerId="LiveId" clId="{7A968074-F52C-418D-99BB-34FFD930F5A1}" dt="2025-10-15T08:48:07.346" v="52" actId="339"/>
          <ac:graphicFrameMkLst>
            <pc:docMk/>
            <pc:sldMk cId="1342840141" sldId="280"/>
            <ac:graphicFrameMk id="5" creationId="{170FF8D0-A264-2C12-3018-6E0930F0559E}"/>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7934ae196a_0_2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g37934ae196a_0_2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7934ae196a_0_1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 name="Google Shape;124;g37934ae196a_0_1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7934ae196a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9" name="Google Shape;129;g37934ae196a_0_1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1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1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1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1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1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hyperlink" Target="https://www.dislessiaioticonosco.it/p/domande-e-risposte.html"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g37934ae196a_0_242"/>
          <p:cNvSpPr txBox="1">
            <a:spLocks noGrp="1"/>
          </p:cNvSpPr>
          <p:nvPr>
            <p:ph type="subTitle" idx="1"/>
          </p:nvPr>
        </p:nvSpPr>
        <p:spPr>
          <a:xfrm>
            <a:off x="-245331" y="1109541"/>
            <a:ext cx="9531600" cy="4119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600"/>
              <a:buNone/>
            </a:pPr>
            <a:r>
              <a:rPr lang="en" sz="2400" b="1" dirty="0">
                <a:solidFill>
                  <a:srgbClr val="0000FF"/>
                </a:solidFill>
                <a:latin typeface="Times New Roman"/>
                <a:ea typeface="Times New Roman"/>
                <a:cs typeface="Times New Roman"/>
                <a:sym typeface="Times New Roman"/>
              </a:rPr>
              <a:t>Seminar</a:t>
            </a:r>
            <a:endParaRPr sz="2400" b="1" dirty="0">
              <a:solidFill>
                <a:srgbClr val="0000FF"/>
              </a:solidFill>
              <a:latin typeface="Times New Roman"/>
              <a:ea typeface="Times New Roman"/>
              <a:cs typeface="Times New Roman"/>
              <a:sym typeface="Times New Roman"/>
            </a:endParaRPr>
          </a:p>
          <a:p>
            <a:pPr marL="0" lvl="0" indent="0" algn="l" rtl="0">
              <a:lnSpc>
                <a:spcPct val="100000"/>
              </a:lnSpc>
              <a:spcBef>
                <a:spcPts val="0"/>
              </a:spcBef>
              <a:spcAft>
                <a:spcPts val="0"/>
              </a:spcAft>
              <a:buSzPts val="2600"/>
              <a:buNone/>
            </a:pPr>
            <a:endParaRPr sz="100" b="1" dirty="0">
              <a:solidFill>
                <a:srgbClr val="CC0000"/>
              </a:solidFill>
              <a:latin typeface="Times New Roman"/>
              <a:ea typeface="Times New Roman"/>
              <a:cs typeface="Times New Roman"/>
              <a:sym typeface="Times New Roman"/>
            </a:endParaRPr>
          </a:p>
          <a:p>
            <a:pPr marL="0" lvl="0" indent="0" algn="ctr" rtl="0">
              <a:lnSpc>
                <a:spcPct val="100000"/>
              </a:lnSpc>
              <a:spcBef>
                <a:spcPts val="0"/>
              </a:spcBef>
              <a:spcAft>
                <a:spcPts val="0"/>
              </a:spcAft>
              <a:buSzPts val="2600"/>
              <a:buNone/>
            </a:pPr>
            <a:r>
              <a:rPr lang="en" sz="3500" b="1" dirty="0">
                <a:solidFill>
                  <a:srgbClr val="CC0000"/>
                </a:solidFill>
                <a:latin typeface="Times New Roman"/>
                <a:ea typeface="Times New Roman"/>
                <a:cs typeface="Times New Roman"/>
                <a:sym typeface="Times New Roman"/>
              </a:rPr>
              <a:t>Review 1</a:t>
            </a:r>
            <a:endParaRPr sz="3500" b="1" dirty="0">
              <a:solidFill>
                <a:srgbClr val="CC0000"/>
              </a:solidFill>
              <a:latin typeface="Times New Roman"/>
              <a:ea typeface="Times New Roman"/>
              <a:cs typeface="Times New Roman"/>
              <a:sym typeface="Times New Roman"/>
            </a:endParaRPr>
          </a:p>
          <a:p>
            <a:pPr marL="0" lvl="0" indent="0" algn="ctr" rtl="0">
              <a:lnSpc>
                <a:spcPct val="100000"/>
              </a:lnSpc>
              <a:spcBef>
                <a:spcPts val="0"/>
              </a:spcBef>
              <a:spcAft>
                <a:spcPts val="0"/>
              </a:spcAft>
              <a:buSzPts val="2600"/>
              <a:buNone/>
            </a:pPr>
            <a:r>
              <a:rPr lang="en" sz="1700" b="1" dirty="0">
                <a:solidFill>
                  <a:schemeClr val="dk1"/>
                </a:solidFill>
                <a:latin typeface="Times New Roman"/>
                <a:ea typeface="Times New Roman"/>
                <a:cs typeface="Times New Roman"/>
                <a:sym typeface="Times New Roman"/>
              </a:rPr>
              <a:t>on</a:t>
            </a:r>
            <a:endParaRPr sz="1700" b="1" dirty="0">
              <a:solidFill>
                <a:schemeClr val="dk1"/>
              </a:solidFill>
              <a:latin typeface="Times New Roman"/>
              <a:ea typeface="Times New Roman"/>
              <a:cs typeface="Times New Roman"/>
              <a:sym typeface="Times New Roman"/>
            </a:endParaRPr>
          </a:p>
          <a:p>
            <a:pPr marL="0" lvl="0" indent="0" algn="ctr" rtl="0">
              <a:lnSpc>
                <a:spcPct val="100000"/>
              </a:lnSpc>
              <a:spcBef>
                <a:spcPts val="0"/>
              </a:spcBef>
              <a:spcAft>
                <a:spcPts val="0"/>
              </a:spcAft>
              <a:buSzPts val="2600"/>
              <a:buNone/>
            </a:pPr>
            <a:r>
              <a:rPr lang="en" sz="2300" b="1" dirty="0">
                <a:solidFill>
                  <a:schemeClr val="dk1"/>
                </a:solidFill>
                <a:latin typeface="Times New Roman"/>
                <a:ea typeface="Times New Roman"/>
                <a:cs typeface="Times New Roman"/>
                <a:sym typeface="Times New Roman"/>
              </a:rPr>
              <a:t>Study on Traffic patterns</a:t>
            </a:r>
          </a:p>
          <a:p>
            <a:pPr marL="0" lvl="0" indent="0" algn="ctr" rtl="0">
              <a:lnSpc>
                <a:spcPct val="100000"/>
              </a:lnSpc>
              <a:spcBef>
                <a:spcPts val="0"/>
              </a:spcBef>
              <a:spcAft>
                <a:spcPts val="0"/>
              </a:spcAft>
              <a:buSzPts val="2600"/>
              <a:buNone/>
            </a:pPr>
            <a:r>
              <a:rPr lang="en" sz="2300" b="1" dirty="0">
                <a:solidFill>
                  <a:schemeClr val="dk1"/>
                </a:solidFill>
                <a:latin typeface="Times New Roman"/>
                <a:ea typeface="Times New Roman"/>
                <a:cs typeface="Times New Roman"/>
                <a:sym typeface="Times New Roman"/>
              </a:rPr>
              <a:t>using SVM Algorithm</a:t>
            </a:r>
            <a:endParaRPr sz="2700" b="1" dirty="0">
              <a:solidFill>
                <a:schemeClr val="dk1"/>
              </a:solidFill>
              <a:latin typeface="Times New Roman"/>
              <a:ea typeface="Times New Roman"/>
              <a:cs typeface="Times New Roman"/>
              <a:sym typeface="Times New Roman"/>
            </a:endParaRPr>
          </a:p>
          <a:p>
            <a:pPr marL="0" lvl="0" indent="0" algn="ctr" rtl="0">
              <a:lnSpc>
                <a:spcPct val="100000"/>
              </a:lnSpc>
              <a:spcBef>
                <a:spcPts val="0"/>
              </a:spcBef>
              <a:spcAft>
                <a:spcPts val="0"/>
              </a:spcAft>
              <a:buSzPts val="2600"/>
              <a:buNone/>
            </a:pPr>
            <a:r>
              <a:rPr lang="en" sz="2600" b="1" dirty="0">
                <a:solidFill>
                  <a:srgbClr val="0000FF"/>
                </a:solidFill>
                <a:latin typeface="Times New Roman"/>
                <a:ea typeface="Times New Roman"/>
                <a:cs typeface="Times New Roman"/>
                <a:sym typeface="Times New Roman"/>
              </a:rPr>
              <a:t>by </a:t>
            </a:r>
            <a:endParaRPr sz="1100" b="1" dirty="0">
              <a:solidFill>
                <a:schemeClr val="dk1"/>
              </a:solidFill>
              <a:latin typeface="Times New Roman"/>
              <a:ea typeface="Times New Roman"/>
              <a:cs typeface="Times New Roman"/>
              <a:sym typeface="Times New Roman"/>
            </a:endParaRPr>
          </a:p>
          <a:p>
            <a:pPr marL="0" lvl="0" indent="0" algn="ctr" rtl="0">
              <a:lnSpc>
                <a:spcPct val="100000"/>
              </a:lnSpc>
              <a:spcBef>
                <a:spcPts val="0"/>
              </a:spcBef>
              <a:spcAft>
                <a:spcPts val="0"/>
              </a:spcAft>
              <a:buSzPts val="2600"/>
              <a:buNone/>
            </a:pPr>
            <a:r>
              <a:rPr lang="en" sz="1100" b="1" dirty="0">
                <a:solidFill>
                  <a:schemeClr val="dk1"/>
                </a:solidFill>
                <a:latin typeface="Times New Roman"/>
                <a:ea typeface="Times New Roman"/>
                <a:cs typeface="Times New Roman"/>
                <a:sym typeface="Times New Roman"/>
              </a:rPr>
              <a:t>Roll No. : TC263 Manaswin Sripatnala  </a:t>
            </a:r>
            <a:endParaRPr sz="1100" b="1" dirty="0">
              <a:solidFill>
                <a:schemeClr val="dk1"/>
              </a:solidFill>
              <a:latin typeface="Times New Roman"/>
              <a:ea typeface="Times New Roman"/>
              <a:cs typeface="Times New Roman"/>
              <a:sym typeface="Times New Roman"/>
            </a:endParaRPr>
          </a:p>
          <a:p>
            <a:pPr marL="0" lvl="0" indent="0" algn="ctr" rtl="0">
              <a:lnSpc>
                <a:spcPct val="100000"/>
              </a:lnSpc>
              <a:spcBef>
                <a:spcPts val="0"/>
              </a:spcBef>
              <a:spcAft>
                <a:spcPts val="0"/>
              </a:spcAft>
              <a:buSzPts val="2600"/>
              <a:buNone/>
            </a:pPr>
            <a:endParaRPr sz="1100" b="1" dirty="0">
              <a:solidFill>
                <a:schemeClr val="dk1"/>
              </a:solidFill>
              <a:latin typeface="Times New Roman"/>
              <a:ea typeface="Times New Roman"/>
              <a:cs typeface="Times New Roman"/>
              <a:sym typeface="Times New Roman"/>
            </a:endParaRPr>
          </a:p>
          <a:p>
            <a:pPr marL="0" lvl="0" indent="0" algn="ctr" rtl="0">
              <a:lnSpc>
                <a:spcPct val="100000"/>
              </a:lnSpc>
              <a:spcBef>
                <a:spcPts val="0"/>
              </a:spcBef>
              <a:spcAft>
                <a:spcPts val="0"/>
              </a:spcAft>
              <a:buSzPts val="2600"/>
              <a:buNone/>
            </a:pPr>
            <a:r>
              <a:rPr lang="en" sz="1700" b="1" dirty="0">
                <a:solidFill>
                  <a:srgbClr val="0000FF"/>
                </a:solidFill>
                <a:latin typeface="Times New Roman"/>
                <a:ea typeface="Times New Roman"/>
                <a:cs typeface="Times New Roman"/>
                <a:sym typeface="Times New Roman"/>
              </a:rPr>
              <a:t>Under the Guidance of </a:t>
            </a:r>
            <a:endParaRPr sz="1700" b="1" dirty="0">
              <a:solidFill>
                <a:srgbClr val="0000FF"/>
              </a:solidFill>
              <a:latin typeface="Times New Roman"/>
              <a:ea typeface="Times New Roman"/>
              <a:cs typeface="Times New Roman"/>
              <a:sym typeface="Times New Roman"/>
            </a:endParaRPr>
          </a:p>
          <a:p>
            <a:pPr marL="0" lvl="0" indent="0" algn="ctr" rtl="0">
              <a:lnSpc>
                <a:spcPct val="100000"/>
              </a:lnSpc>
              <a:spcBef>
                <a:spcPts val="0"/>
              </a:spcBef>
              <a:spcAft>
                <a:spcPts val="0"/>
              </a:spcAft>
              <a:buClr>
                <a:schemeClr val="dk1"/>
              </a:buClr>
              <a:buSzPts val="2600"/>
              <a:buFont typeface="Arial"/>
              <a:buNone/>
            </a:pPr>
            <a:r>
              <a:rPr lang="en" sz="1700" b="1" dirty="0">
                <a:solidFill>
                  <a:schemeClr val="dk1"/>
                </a:solidFill>
                <a:latin typeface="Times New Roman"/>
                <a:ea typeface="Times New Roman"/>
                <a:cs typeface="Times New Roman"/>
                <a:sym typeface="Times New Roman"/>
              </a:rPr>
              <a:t>Ms. Mayuri Narkhade</a:t>
            </a:r>
            <a:endParaRPr sz="1700" b="1" dirty="0">
              <a:solidFill>
                <a:schemeClr val="dk1"/>
              </a:solidFill>
              <a:latin typeface="Times New Roman"/>
              <a:ea typeface="Times New Roman"/>
              <a:cs typeface="Times New Roman"/>
              <a:sym typeface="Times New Roman"/>
            </a:endParaRPr>
          </a:p>
          <a:p>
            <a:pPr marL="0" lvl="0" indent="0" algn="ctr" rtl="0">
              <a:lnSpc>
                <a:spcPct val="100000"/>
              </a:lnSpc>
              <a:spcBef>
                <a:spcPts val="0"/>
              </a:spcBef>
              <a:spcAft>
                <a:spcPts val="0"/>
              </a:spcAft>
              <a:buSzPts val="2600"/>
              <a:buNone/>
            </a:pPr>
            <a:endParaRPr sz="1100" b="1" dirty="0">
              <a:solidFill>
                <a:schemeClr val="dk1"/>
              </a:solidFill>
              <a:latin typeface="Times New Roman"/>
              <a:ea typeface="Times New Roman"/>
              <a:cs typeface="Times New Roman"/>
              <a:sym typeface="Times New Roman"/>
            </a:endParaRPr>
          </a:p>
        </p:txBody>
      </p:sp>
      <p:pic>
        <p:nvPicPr>
          <p:cNvPr id="55" name="Google Shape;55;g37934ae196a_0_242" descr="See the source image"/>
          <p:cNvPicPr preferRelativeResize="0"/>
          <p:nvPr/>
        </p:nvPicPr>
        <p:blipFill rotWithShape="1">
          <a:blip r:embed="rId3">
            <a:alphaModFix/>
          </a:blip>
          <a:srcRect/>
          <a:stretch/>
        </p:blipFill>
        <p:spPr>
          <a:xfrm>
            <a:off x="105188" y="46388"/>
            <a:ext cx="1127119" cy="923758"/>
          </a:xfrm>
          <a:prstGeom prst="rect">
            <a:avLst/>
          </a:prstGeom>
          <a:noFill/>
          <a:ln>
            <a:noFill/>
          </a:ln>
        </p:spPr>
      </p:pic>
      <p:sp>
        <p:nvSpPr>
          <p:cNvPr id="56" name="Google Shape;56;g37934ae196a_0_242"/>
          <p:cNvSpPr txBox="1"/>
          <p:nvPr/>
        </p:nvSpPr>
        <p:spPr>
          <a:xfrm>
            <a:off x="1482669" y="-88474"/>
            <a:ext cx="6075600" cy="13299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 sz="1700" b="1" i="0" u="none" strike="noStrike" cap="none" dirty="0">
                <a:solidFill>
                  <a:schemeClr val="dk1"/>
                </a:solidFill>
                <a:latin typeface="Times New Roman"/>
                <a:ea typeface="Times New Roman"/>
                <a:cs typeface="Times New Roman"/>
                <a:sym typeface="Times New Roman"/>
              </a:rPr>
              <a:t>Marathwada Mitra Mandal’s</a:t>
            </a:r>
            <a:endParaRPr sz="1700" b="1"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200"/>
              <a:buFont typeface="Arial"/>
              <a:buNone/>
            </a:pPr>
            <a:r>
              <a:rPr lang="en" sz="1700" b="1" i="0" u="none" strike="noStrike" cap="none" dirty="0">
                <a:solidFill>
                  <a:schemeClr val="dk1"/>
                </a:solidFill>
                <a:latin typeface="Times New Roman"/>
                <a:ea typeface="Times New Roman"/>
                <a:cs typeface="Times New Roman"/>
                <a:sym typeface="Times New Roman"/>
              </a:rPr>
              <a:t>College of Engineering</a:t>
            </a:r>
            <a:endParaRPr sz="1700" b="1"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200"/>
              <a:buFont typeface="Arial"/>
              <a:buNone/>
            </a:pPr>
            <a:r>
              <a:rPr lang="en" sz="1100" b="1" i="0" u="none" strike="noStrike" cap="none" dirty="0">
                <a:solidFill>
                  <a:schemeClr val="dk1"/>
                </a:solidFill>
                <a:latin typeface="Times New Roman"/>
                <a:ea typeface="Times New Roman"/>
                <a:cs typeface="Times New Roman"/>
                <a:sym typeface="Times New Roman"/>
              </a:rPr>
              <a:t>An Autonomous Institute affiliated to SPPU</a:t>
            </a:r>
            <a:r>
              <a:rPr lang="en" sz="2600" b="1" i="0" u="none" strike="noStrike" cap="none" dirty="0">
                <a:solidFill>
                  <a:schemeClr val="dk1"/>
                </a:solidFill>
                <a:latin typeface="Times New Roman"/>
                <a:ea typeface="Times New Roman"/>
                <a:cs typeface="Times New Roman"/>
                <a:sym typeface="Times New Roman"/>
              </a:rPr>
              <a:t> </a:t>
            </a:r>
            <a:endParaRPr sz="2600" b="1" i="0" u="none" strike="noStrike" cap="none" dirty="0">
              <a:solidFill>
                <a:schemeClr val="dk1"/>
              </a:solidFill>
              <a:latin typeface="Times New Roman"/>
              <a:ea typeface="Times New Roman"/>
              <a:cs typeface="Times New Roman"/>
              <a:sym typeface="Times New Roman"/>
            </a:endParaRPr>
          </a:p>
          <a:p>
            <a:pPr marL="0" marR="0" lvl="0" indent="0" algn="ctr" rtl="0">
              <a:lnSpc>
                <a:spcPct val="90000"/>
              </a:lnSpc>
              <a:spcBef>
                <a:spcPts val="0"/>
              </a:spcBef>
              <a:spcAft>
                <a:spcPts val="0"/>
              </a:spcAft>
              <a:buClr>
                <a:schemeClr val="dk1"/>
              </a:buClr>
              <a:buSzPts val="1500"/>
              <a:buFont typeface="Arial"/>
              <a:buNone/>
            </a:pPr>
            <a:r>
              <a:rPr lang="en" sz="1600" b="1" i="0" u="none" strike="noStrike" cap="none" dirty="0">
                <a:solidFill>
                  <a:schemeClr val="dk1"/>
                </a:solidFill>
                <a:latin typeface="Times New Roman"/>
                <a:ea typeface="Times New Roman"/>
                <a:cs typeface="Times New Roman"/>
                <a:sym typeface="Times New Roman"/>
              </a:rPr>
              <a:t>DEPARTMENT OF COMPUTER ENGINEERING</a:t>
            </a:r>
            <a:endParaRPr sz="1600" b="1" i="0" u="none" strike="noStrike" cap="none" dirty="0">
              <a:solidFill>
                <a:schemeClr val="dk1"/>
              </a:solidFill>
              <a:latin typeface="Times New Roman"/>
              <a:ea typeface="Times New Roman"/>
              <a:cs typeface="Times New Roman"/>
              <a:sym typeface="Times New Roman"/>
            </a:endParaRPr>
          </a:p>
        </p:txBody>
      </p:sp>
      <p:pic>
        <p:nvPicPr>
          <p:cNvPr id="57" name="Google Shape;57;g37934ae196a_0_242"/>
          <p:cNvPicPr preferRelativeResize="0"/>
          <p:nvPr/>
        </p:nvPicPr>
        <p:blipFill rotWithShape="1">
          <a:blip r:embed="rId4">
            <a:alphaModFix/>
          </a:blip>
          <a:srcRect/>
          <a:stretch/>
        </p:blipFill>
        <p:spPr>
          <a:xfrm>
            <a:off x="7858340" y="0"/>
            <a:ext cx="1285661" cy="97014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4CB16-8CCA-A150-68E7-F4D3D4795B41}"/>
              </a:ext>
            </a:extLst>
          </p:cNvPr>
          <p:cNvSpPr>
            <a:spLocks noGrp="1"/>
          </p:cNvSpPr>
          <p:nvPr>
            <p:ph type="title"/>
          </p:nvPr>
        </p:nvSpPr>
        <p:spPr/>
        <p:txBody>
          <a:bodyPr>
            <a:normAutofit/>
          </a:bodyPr>
          <a:lstStyle/>
          <a:p>
            <a:r>
              <a:rPr lang="en-IN" dirty="0"/>
              <a:t>Working Model :</a:t>
            </a:r>
          </a:p>
        </p:txBody>
      </p:sp>
      <p:sp>
        <p:nvSpPr>
          <p:cNvPr id="7" name="Text Placeholder 6">
            <a:extLst>
              <a:ext uri="{FF2B5EF4-FFF2-40B4-BE49-F238E27FC236}">
                <a16:creationId xmlns:a16="http://schemas.microsoft.com/office/drawing/2014/main" id="{5F2696A5-A687-C34C-4588-8FD689F3FB11}"/>
              </a:ext>
            </a:extLst>
          </p:cNvPr>
          <p:cNvSpPr>
            <a:spLocks noGrp="1"/>
          </p:cNvSpPr>
          <p:nvPr>
            <p:ph type="body" idx="1"/>
          </p:nvPr>
        </p:nvSpPr>
        <p:spPr>
          <a:xfrm>
            <a:off x="311699" y="1389600"/>
            <a:ext cx="4035997" cy="3179400"/>
          </a:xfrm>
        </p:spPr>
        <p:txBody>
          <a:bodyPr>
            <a:normAutofit fontScale="92500"/>
          </a:bodyPr>
          <a:lstStyle/>
          <a:p>
            <a:r>
              <a:rPr lang="en-US" sz="1400" b="1" dirty="0"/>
              <a:t>Traffic Input (Camera/Sensors):</a:t>
            </a:r>
            <a:r>
              <a:rPr lang="en-US" sz="1400" dirty="0"/>
              <a:t> Collects real-time traffic data using cameras or sensors.</a:t>
            </a:r>
          </a:p>
          <a:p>
            <a:r>
              <a:rPr lang="en-US" sz="1400" b="1" dirty="0"/>
              <a:t>Feature Extraction:</a:t>
            </a:r>
            <a:r>
              <a:rPr lang="en-US" sz="1400" dirty="0"/>
              <a:t> Processes the input to extract key features like vehicle count, speed, and congestion level.</a:t>
            </a:r>
          </a:p>
          <a:p>
            <a:r>
              <a:rPr lang="en-US" sz="1400" b="1" dirty="0"/>
              <a:t>SVM Classifier (Traffic State Prediction):</a:t>
            </a:r>
            <a:r>
              <a:rPr lang="en-US" sz="1400" dirty="0"/>
              <a:t> Uses SVM to classify the current traffic state (e.g., low, medium, or high congestion).</a:t>
            </a:r>
          </a:p>
          <a:p>
            <a:r>
              <a:rPr lang="en-US" sz="1400" b="1" dirty="0"/>
              <a:t>Traffic Signal Control:</a:t>
            </a:r>
            <a:r>
              <a:rPr lang="en-US" sz="1400" dirty="0"/>
              <a:t> Adjusts traffic signals dynamically based on predictions.</a:t>
            </a:r>
          </a:p>
          <a:p>
            <a:r>
              <a:rPr lang="en-US" sz="1400" b="1" dirty="0"/>
              <a:t>Optimized Traffic Flow:</a:t>
            </a:r>
            <a:r>
              <a:rPr lang="en-US" sz="1400" dirty="0"/>
              <a:t> Results in reduced congestion and improved traffic efficiency.</a:t>
            </a:r>
          </a:p>
        </p:txBody>
      </p:sp>
      <p:sp>
        <p:nvSpPr>
          <p:cNvPr id="4" name="Slide Number Placeholder 3">
            <a:extLst>
              <a:ext uri="{FF2B5EF4-FFF2-40B4-BE49-F238E27FC236}">
                <a16:creationId xmlns:a16="http://schemas.microsoft.com/office/drawing/2014/main" id="{F3903A0D-4CDE-A5C8-9C8B-09FF763499E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a:t>
            </a:fld>
            <a:endParaRPr lang="en"/>
          </a:p>
        </p:txBody>
      </p:sp>
      <p:pic>
        <p:nvPicPr>
          <p:cNvPr id="6" name="Picture 5">
            <a:extLst>
              <a:ext uri="{FF2B5EF4-FFF2-40B4-BE49-F238E27FC236}">
                <a16:creationId xmlns:a16="http://schemas.microsoft.com/office/drawing/2014/main" id="{A676B75C-697F-F7FC-EE64-4DEE025085ED}"/>
              </a:ext>
            </a:extLst>
          </p:cNvPr>
          <p:cNvPicPr>
            <a:picLocks noChangeAspect="1"/>
          </p:cNvPicPr>
          <p:nvPr/>
        </p:nvPicPr>
        <p:blipFill>
          <a:blip r:embed="rId2"/>
          <a:stretch>
            <a:fillRect/>
          </a:stretch>
        </p:blipFill>
        <p:spPr>
          <a:xfrm>
            <a:off x="4796304" y="96252"/>
            <a:ext cx="3429000" cy="4960565"/>
          </a:xfrm>
          <a:prstGeom prst="rect">
            <a:avLst/>
          </a:prstGeom>
          <a:ln>
            <a:solidFill>
              <a:schemeClr val="tx1"/>
            </a:solidFill>
          </a:ln>
        </p:spPr>
      </p:pic>
    </p:spTree>
    <p:extLst>
      <p:ext uri="{BB962C8B-B14F-4D97-AF65-F5344CB8AC3E}">
        <p14:creationId xmlns:p14="http://schemas.microsoft.com/office/powerpoint/2010/main" val="11904357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DC39D-5FA5-09BA-98FF-4C38BEA37B86}"/>
              </a:ext>
            </a:extLst>
          </p:cNvPr>
          <p:cNvSpPr>
            <a:spLocks noGrp="1"/>
          </p:cNvSpPr>
          <p:nvPr>
            <p:ph type="title"/>
          </p:nvPr>
        </p:nvSpPr>
        <p:spPr/>
        <p:txBody>
          <a:bodyPr>
            <a:normAutofit fontScale="90000"/>
          </a:bodyPr>
          <a:lstStyle/>
          <a:p>
            <a:pPr algn="ctr"/>
            <a:r>
              <a:rPr lang="en" b="1" u="sng" dirty="0"/>
              <a:t>1. Introduction</a:t>
            </a:r>
            <a:endParaRPr lang="en-IN" u="sng" dirty="0"/>
          </a:p>
        </p:txBody>
      </p:sp>
      <p:sp>
        <p:nvSpPr>
          <p:cNvPr id="4" name="Slide Number Placeholder 3">
            <a:extLst>
              <a:ext uri="{FF2B5EF4-FFF2-40B4-BE49-F238E27FC236}">
                <a16:creationId xmlns:a16="http://schemas.microsoft.com/office/drawing/2014/main" id="{54506F7F-A7C5-37E4-2F11-07FBE9C4094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a:t>
            </a:fld>
            <a:endParaRPr lang="en"/>
          </a:p>
        </p:txBody>
      </p:sp>
      <p:sp>
        <p:nvSpPr>
          <p:cNvPr id="6" name="Rectangle 2">
            <a:extLst>
              <a:ext uri="{FF2B5EF4-FFF2-40B4-BE49-F238E27FC236}">
                <a16:creationId xmlns:a16="http://schemas.microsoft.com/office/drawing/2014/main" id="{57B7A941-8F83-0D80-3E09-E3327DB0BDA4}"/>
              </a:ext>
            </a:extLst>
          </p:cNvPr>
          <p:cNvSpPr>
            <a:spLocks noGrp="1" noChangeArrowheads="1"/>
          </p:cNvSpPr>
          <p:nvPr>
            <p:ph type="body" idx="1"/>
          </p:nvPr>
        </p:nvSpPr>
        <p:spPr bwMode="auto">
          <a:xfrm>
            <a:off x="467513" y="1540315"/>
            <a:ext cx="8277726" cy="26407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defTabSz="914400" eaLnBrk="0" fontAlgn="base" latinLnBrk="0" hangingPunct="0">
              <a:buFont typeface="Arial"/>
              <a:buChar char="•"/>
              <a:tabLst/>
            </a:pPr>
            <a:r>
              <a:rPr lang="en-US" altLang="en-US" sz="1600" b="1" dirty="0"/>
              <a:t>Rising Urban Challenges – </a:t>
            </a:r>
            <a:r>
              <a:rPr lang="en-US" altLang="en-US" sz="1600" dirty="0"/>
              <a:t>Rapid urbanization and increasing vehicles in India are overwhelming existing infrastructure, making smooth mobility difficult.</a:t>
            </a:r>
          </a:p>
          <a:p>
            <a:pPr marL="0" lvl="0" indent="0" defTabSz="914400" eaLnBrk="0" fontAlgn="base" latinLnBrk="0" hangingPunct="0">
              <a:buFont typeface="Arial"/>
              <a:buNone/>
              <a:tabLst/>
            </a:pPr>
            <a:endParaRPr lang="en-US" altLang="en-US" sz="1600" b="1" dirty="0"/>
          </a:p>
          <a:p>
            <a:pPr marL="0" lvl="0" indent="0" defTabSz="914400" eaLnBrk="0" fontAlgn="base" latinLnBrk="0" hangingPunct="0">
              <a:buFont typeface="Arial"/>
              <a:buChar char="•"/>
              <a:tabLst/>
            </a:pPr>
            <a:r>
              <a:rPr lang="en-US" altLang="en-US" sz="1600" b="1" dirty="0"/>
              <a:t>Impact of Congestion – </a:t>
            </a:r>
            <a:r>
              <a:rPr lang="en-US" altLang="en-US" sz="1600" dirty="0"/>
              <a:t>Traffic jams cause huge losses in time and fuel, increase pollution, and compromise road safety and productivity.</a:t>
            </a:r>
          </a:p>
          <a:p>
            <a:pPr marL="0" lvl="0" indent="0" defTabSz="914400" eaLnBrk="0" fontAlgn="base" latinLnBrk="0" hangingPunct="0">
              <a:buFont typeface="Arial"/>
              <a:buNone/>
              <a:tabLst/>
            </a:pPr>
            <a:endParaRPr lang="en-US" altLang="en-US" sz="1600" b="1" dirty="0"/>
          </a:p>
          <a:p>
            <a:pPr marL="0" lvl="0" indent="0" defTabSz="914400" eaLnBrk="0" fontAlgn="base" latinLnBrk="0" hangingPunct="0">
              <a:buFont typeface="Arial"/>
              <a:buChar char="•"/>
              <a:tabLst/>
            </a:pPr>
            <a:r>
              <a:rPr lang="en-US" altLang="en-US" sz="1600" b="1" dirty="0"/>
              <a:t>Need for Smart Solutions –</a:t>
            </a:r>
            <a:r>
              <a:rPr lang="en-US" altLang="en-US" sz="1600" dirty="0"/>
              <a:t> While technologies like AI-based monitoring, adaptive signals, and real-time navigation exist, their adoption in Indian cities is still limited, making the problem urgent.</a:t>
            </a:r>
          </a:p>
        </p:txBody>
      </p:sp>
    </p:spTree>
    <p:extLst>
      <p:ext uri="{BB962C8B-B14F-4D97-AF65-F5344CB8AC3E}">
        <p14:creationId xmlns:p14="http://schemas.microsoft.com/office/powerpoint/2010/main" val="271718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464BA-0E03-6247-DB2E-286788F382B6}"/>
              </a:ext>
            </a:extLst>
          </p:cNvPr>
          <p:cNvSpPr>
            <a:spLocks noGrp="1"/>
          </p:cNvSpPr>
          <p:nvPr>
            <p:ph type="title"/>
          </p:nvPr>
        </p:nvSpPr>
        <p:spPr/>
        <p:txBody>
          <a:bodyPr>
            <a:normAutofit fontScale="90000"/>
          </a:bodyPr>
          <a:lstStyle/>
          <a:p>
            <a:pPr algn="ctr"/>
            <a:r>
              <a:rPr lang="en-IN" dirty="0"/>
              <a:t>2. Motivation</a:t>
            </a:r>
          </a:p>
        </p:txBody>
      </p:sp>
      <p:sp>
        <p:nvSpPr>
          <p:cNvPr id="3" name="Text Placeholder 2">
            <a:extLst>
              <a:ext uri="{FF2B5EF4-FFF2-40B4-BE49-F238E27FC236}">
                <a16:creationId xmlns:a16="http://schemas.microsoft.com/office/drawing/2014/main" id="{C578AC5F-3ACE-C6ED-AFE7-5F7353C41C8B}"/>
              </a:ext>
            </a:extLst>
          </p:cNvPr>
          <p:cNvSpPr>
            <a:spLocks noGrp="1"/>
          </p:cNvSpPr>
          <p:nvPr>
            <p:ph type="body" idx="1"/>
          </p:nvPr>
        </p:nvSpPr>
        <p:spPr>
          <a:xfrm>
            <a:off x="311700" y="1326910"/>
            <a:ext cx="8520600" cy="3251965"/>
          </a:xfrm>
        </p:spPr>
        <p:txBody>
          <a:bodyPr>
            <a:noAutofit/>
          </a:bodyPr>
          <a:lstStyle/>
          <a:p>
            <a:r>
              <a:rPr lang="en-US" sz="1600" b="1" dirty="0"/>
              <a:t>Motivation &amp; Relevance</a:t>
            </a:r>
            <a:r>
              <a:rPr lang="en-US" sz="1600" dirty="0"/>
              <a:t> – Traffic congestion impacts millions daily, wasting fuel, time, and harming the environment. As computer engineering students, we aim to apply AI/ML for a practical and impactful solution.</a:t>
            </a:r>
          </a:p>
          <a:p>
            <a:endParaRPr lang="en-US" sz="1600" dirty="0"/>
          </a:p>
          <a:p>
            <a:r>
              <a:rPr lang="en-US" sz="1600" b="1" dirty="0"/>
              <a:t>Key Benefits</a:t>
            </a:r>
            <a:r>
              <a:rPr lang="en-US" sz="1600" dirty="0"/>
              <a:t> – AI-based traffic management enables real-time, unbiased monitoring, reduces waiting times, saves fuel, lowers emissions, improves safety, and prioritizes emergency vehicles.</a:t>
            </a:r>
          </a:p>
          <a:p>
            <a:pPr marL="114300" indent="0">
              <a:buNone/>
            </a:pPr>
            <a:endParaRPr lang="en-US" sz="1600" dirty="0"/>
          </a:p>
          <a:p>
            <a:r>
              <a:rPr lang="en-US" sz="1600" b="1" dirty="0"/>
              <a:t>Contribution to Smart Cities</a:t>
            </a:r>
            <a:r>
              <a:rPr lang="en-US" sz="1600" dirty="0"/>
              <a:t> – By integrating intelligent traffic control with cameras and AI, the project supports sustainable mobility, better urban planning, and aligns with India’s smart city vision.</a:t>
            </a:r>
          </a:p>
        </p:txBody>
      </p:sp>
      <p:sp>
        <p:nvSpPr>
          <p:cNvPr id="4" name="Slide Number Placeholder 3">
            <a:extLst>
              <a:ext uri="{FF2B5EF4-FFF2-40B4-BE49-F238E27FC236}">
                <a16:creationId xmlns:a16="http://schemas.microsoft.com/office/drawing/2014/main" id="{392C0359-7221-895D-60F7-744B8267552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a:t>
            </a:fld>
            <a:endParaRPr lang="en"/>
          </a:p>
        </p:txBody>
      </p:sp>
    </p:spTree>
    <p:extLst>
      <p:ext uri="{BB962C8B-B14F-4D97-AF65-F5344CB8AC3E}">
        <p14:creationId xmlns:p14="http://schemas.microsoft.com/office/powerpoint/2010/main" val="20845733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EBA46-7D6C-41B4-DB49-61DAF4C22E34}"/>
              </a:ext>
            </a:extLst>
          </p:cNvPr>
          <p:cNvSpPr>
            <a:spLocks noGrp="1"/>
          </p:cNvSpPr>
          <p:nvPr>
            <p:ph type="title"/>
          </p:nvPr>
        </p:nvSpPr>
        <p:spPr/>
        <p:txBody>
          <a:bodyPr>
            <a:normAutofit fontScale="90000"/>
          </a:bodyPr>
          <a:lstStyle/>
          <a:p>
            <a:r>
              <a:rPr lang="en-IN" dirty="0"/>
              <a:t>3. Problem Statement</a:t>
            </a:r>
          </a:p>
        </p:txBody>
      </p:sp>
      <p:sp>
        <p:nvSpPr>
          <p:cNvPr id="4" name="Slide Number Placeholder 3">
            <a:extLst>
              <a:ext uri="{FF2B5EF4-FFF2-40B4-BE49-F238E27FC236}">
                <a16:creationId xmlns:a16="http://schemas.microsoft.com/office/drawing/2014/main" id="{A1C2695D-34CA-657C-4EED-35B539CCE45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a:t>
            </a:fld>
            <a:endParaRPr lang="en"/>
          </a:p>
        </p:txBody>
      </p:sp>
      <p:sp>
        <p:nvSpPr>
          <p:cNvPr id="5" name="Rectangle 1">
            <a:extLst>
              <a:ext uri="{FF2B5EF4-FFF2-40B4-BE49-F238E27FC236}">
                <a16:creationId xmlns:a16="http://schemas.microsoft.com/office/drawing/2014/main" id="{74FE77B9-F6BA-85BF-3EA7-B516D07D756A}"/>
              </a:ext>
            </a:extLst>
          </p:cNvPr>
          <p:cNvSpPr>
            <a:spLocks noGrp="1" noChangeArrowheads="1"/>
          </p:cNvSpPr>
          <p:nvPr>
            <p:ph type="body" idx="1"/>
          </p:nvPr>
        </p:nvSpPr>
        <p:spPr bwMode="auto">
          <a:xfrm>
            <a:off x="311701" y="1540315"/>
            <a:ext cx="8439394" cy="26407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defTabSz="914400" eaLnBrk="0" fontAlgn="base" latinLnBrk="0" hangingPunct="0">
              <a:buFont typeface="Arial"/>
              <a:buChar char="•"/>
              <a:tabLst/>
            </a:pPr>
            <a:r>
              <a:rPr lang="en-US" altLang="en-US" sz="1600" b="1" dirty="0"/>
              <a:t>Main Challenge – </a:t>
            </a:r>
            <a:r>
              <a:rPr lang="en-US" altLang="en-US" sz="1600" dirty="0"/>
              <a:t>Existing traffic systems rely on fixed timers and limited manual monitoring, causing delays, fuel wastage, and rising pollution in urban areas.</a:t>
            </a:r>
          </a:p>
          <a:p>
            <a:pPr marL="0" lvl="0" indent="0" defTabSz="914400" eaLnBrk="0" fontAlgn="base" latinLnBrk="0" hangingPunct="0">
              <a:buFont typeface="Arial"/>
              <a:buNone/>
              <a:tabLst/>
            </a:pPr>
            <a:endParaRPr lang="en-US" altLang="en-US" sz="1600" b="1" dirty="0"/>
          </a:p>
          <a:p>
            <a:pPr marL="0" lvl="0" indent="0" defTabSz="914400" eaLnBrk="0" fontAlgn="base" latinLnBrk="0" hangingPunct="0">
              <a:buFont typeface="Arial"/>
              <a:buChar char="•"/>
              <a:tabLst/>
            </a:pPr>
            <a:r>
              <a:rPr lang="en-US" altLang="en-US" sz="1600" b="1" dirty="0"/>
              <a:t>System Limitations – </a:t>
            </a:r>
            <a:r>
              <a:rPr lang="en-US" altLang="en-US" sz="1600" dirty="0"/>
              <a:t>Fixed signals cannot adapt to sudden traffic changes, while human monitoring is error-prone, slow, and unsustainable for 24/7 operations.</a:t>
            </a:r>
          </a:p>
          <a:p>
            <a:pPr marL="0" lvl="0" indent="0" defTabSz="914400" eaLnBrk="0" fontAlgn="base" latinLnBrk="0" hangingPunct="0">
              <a:buFont typeface="Arial"/>
              <a:buNone/>
              <a:tabLst/>
            </a:pPr>
            <a:endParaRPr lang="en-US" altLang="en-US" sz="1600" b="1" dirty="0"/>
          </a:p>
          <a:p>
            <a:pPr marL="0" lvl="0" indent="0" defTabSz="914400" eaLnBrk="0" fontAlgn="base" latinLnBrk="0" hangingPunct="0">
              <a:buFont typeface="Arial"/>
              <a:buChar char="•"/>
              <a:tabLst/>
            </a:pPr>
            <a:r>
              <a:rPr lang="en-US" altLang="en-US" sz="1600" b="1" dirty="0"/>
              <a:t>Gaps in Current Solutions –</a:t>
            </a:r>
            <a:r>
              <a:rPr lang="en-US" altLang="en-US" sz="1600" dirty="0"/>
              <a:t> Navigation apps aid drivers but aren’t integrated with signals; partial smart systems lack AI-driven control, and large-scale adoption in India remains limited.</a:t>
            </a:r>
          </a:p>
        </p:txBody>
      </p:sp>
    </p:spTree>
    <p:extLst>
      <p:ext uri="{BB962C8B-B14F-4D97-AF65-F5344CB8AC3E}">
        <p14:creationId xmlns:p14="http://schemas.microsoft.com/office/powerpoint/2010/main" val="34360574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51D96-50C8-FAC9-3E43-CB789F15128C}"/>
              </a:ext>
            </a:extLst>
          </p:cNvPr>
          <p:cNvSpPr>
            <a:spLocks noGrp="1"/>
          </p:cNvSpPr>
          <p:nvPr>
            <p:ph type="title"/>
          </p:nvPr>
        </p:nvSpPr>
        <p:spPr/>
        <p:txBody>
          <a:bodyPr>
            <a:normAutofit fontScale="90000"/>
          </a:bodyPr>
          <a:lstStyle/>
          <a:p>
            <a:r>
              <a:rPr lang="en-IN" dirty="0"/>
              <a:t>4. Scope and Objective</a:t>
            </a:r>
          </a:p>
        </p:txBody>
      </p:sp>
      <p:sp>
        <p:nvSpPr>
          <p:cNvPr id="3" name="Text Placeholder 2">
            <a:extLst>
              <a:ext uri="{FF2B5EF4-FFF2-40B4-BE49-F238E27FC236}">
                <a16:creationId xmlns:a16="http://schemas.microsoft.com/office/drawing/2014/main" id="{3999DC9B-F010-1D87-293B-9DA5331281BE}"/>
              </a:ext>
            </a:extLst>
          </p:cNvPr>
          <p:cNvSpPr>
            <a:spLocks noGrp="1"/>
          </p:cNvSpPr>
          <p:nvPr>
            <p:ph type="body" idx="1"/>
          </p:nvPr>
        </p:nvSpPr>
        <p:spPr>
          <a:xfrm>
            <a:off x="311700" y="1017726"/>
            <a:ext cx="8520600" cy="3891158"/>
          </a:xfrm>
        </p:spPr>
        <p:txBody>
          <a:bodyPr>
            <a:noAutofit/>
          </a:bodyPr>
          <a:lstStyle/>
          <a:p>
            <a:r>
              <a:rPr lang="en-US" sz="2000" b="1" dirty="0"/>
              <a:t>Scope of the Seminar :</a:t>
            </a:r>
          </a:p>
          <a:p>
            <a:pPr lvl="1"/>
            <a:r>
              <a:rPr lang="en-US" b="1" dirty="0"/>
              <a:t>Focus Area</a:t>
            </a:r>
            <a:r>
              <a:rPr lang="en-US" dirty="0"/>
              <a:t> – Use of AI in traffic management through real-time monitoring, dynamic signal control, and detection of accidents/emergencies.</a:t>
            </a:r>
          </a:p>
          <a:p>
            <a:pPr lvl="1"/>
            <a:r>
              <a:rPr lang="en-US" b="1" dirty="0"/>
              <a:t>Applications</a:t>
            </a:r>
            <a:r>
              <a:rPr lang="en-US" dirty="0"/>
              <a:t> – Reducing congestion, fuel use, and pollution with AI-driven image processing and adaptive algorithms.</a:t>
            </a:r>
          </a:p>
          <a:p>
            <a:pPr lvl="1"/>
            <a:r>
              <a:rPr lang="en-US" b="1" dirty="0"/>
              <a:t>Boundaries</a:t>
            </a:r>
            <a:r>
              <a:rPr lang="en-US" dirty="0"/>
              <a:t> – Excludes large-scale infrastructure design, advanced hardware development, and nationwide transport integration; scope remains at city/junction level.</a:t>
            </a:r>
          </a:p>
          <a:p>
            <a:r>
              <a:rPr lang="en-US" sz="2000" b="1" dirty="0"/>
              <a:t>Objectives of the Seminar :</a:t>
            </a:r>
          </a:p>
          <a:p>
            <a:pPr lvl="1"/>
            <a:r>
              <a:rPr lang="en-US" b="1" dirty="0"/>
              <a:t>Problem Identification</a:t>
            </a:r>
            <a:r>
              <a:rPr lang="en-US" dirty="0"/>
              <a:t> – Analyze inefficiencies in traditional traffic systems and highlight key challenges.</a:t>
            </a:r>
          </a:p>
          <a:p>
            <a:pPr lvl="1"/>
            <a:r>
              <a:rPr lang="en-US" b="1" dirty="0"/>
              <a:t>AI Exploration</a:t>
            </a:r>
            <a:r>
              <a:rPr lang="en-US" dirty="0"/>
              <a:t> – Apply machine learning, computer vision, and adaptive methods for smarter signal control and improved safety.</a:t>
            </a:r>
          </a:p>
          <a:p>
            <a:pPr lvl="1"/>
            <a:r>
              <a:rPr lang="en-US" b="1" dirty="0"/>
              <a:t>Practical Impact</a:t>
            </a:r>
            <a:r>
              <a:rPr lang="en-US" dirty="0"/>
              <a:t> – Demonstrate real-world benefits like reduced delays, resource savings, emergency prioritization, and feasibility for smart cities in India.</a:t>
            </a:r>
          </a:p>
          <a:p>
            <a:pPr marL="114300" indent="0">
              <a:buNone/>
            </a:pPr>
            <a:endParaRPr lang="en-IN" sz="2000" dirty="0"/>
          </a:p>
        </p:txBody>
      </p:sp>
      <p:sp>
        <p:nvSpPr>
          <p:cNvPr id="4" name="Slide Number Placeholder 3">
            <a:extLst>
              <a:ext uri="{FF2B5EF4-FFF2-40B4-BE49-F238E27FC236}">
                <a16:creationId xmlns:a16="http://schemas.microsoft.com/office/drawing/2014/main" id="{7D12EF01-5286-1C93-E8EB-63FD352694B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a:t>
            </a:fld>
            <a:endParaRPr lang="en"/>
          </a:p>
        </p:txBody>
      </p:sp>
    </p:spTree>
    <p:extLst>
      <p:ext uri="{BB962C8B-B14F-4D97-AF65-F5344CB8AC3E}">
        <p14:creationId xmlns:p14="http://schemas.microsoft.com/office/powerpoint/2010/main" val="42690621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54AB6-0285-ADC8-6AAF-9A63BFEE8A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98ABE7-796E-B8D7-ED04-BF92E5C183A3}"/>
              </a:ext>
            </a:extLst>
          </p:cNvPr>
          <p:cNvSpPr>
            <a:spLocks noGrp="1"/>
          </p:cNvSpPr>
          <p:nvPr>
            <p:ph type="title"/>
          </p:nvPr>
        </p:nvSpPr>
        <p:spPr/>
        <p:txBody>
          <a:bodyPr>
            <a:normAutofit fontScale="90000"/>
          </a:bodyPr>
          <a:lstStyle/>
          <a:p>
            <a:r>
              <a:rPr lang="en-IN" dirty="0"/>
              <a:t>5. Literature Survey</a:t>
            </a:r>
          </a:p>
        </p:txBody>
      </p:sp>
      <p:sp>
        <p:nvSpPr>
          <p:cNvPr id="4" name="Slide Number Placeholder 3">
            <a:extLst>
              <a:ext uri="{FF2B5EF4-FFF2-40B4-BE49-F238E27FC236}">
                <a16:creationId xmlns:a16="http://schemas.microsoft.com/office/drawing/2014/main" id="{A1D500D0-A5B1-2762-7AE0-42597E8910B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a:t>
            </a:fld>
            <a:endParaRPr lang="en"/>
          </a:p>
        </p:txBody>
      </p:sp>
      <p:graphicFrame>
        <p:nvGraphicFramePr>
          <p:cNvPr id="11" name="Table 10">
            <a:extLst>
              <a:ext uri="{FF2B5EF4-FFF2-40B4-BE49-F238E27FC236}">
                <a16:creationId xmlns:a16="http://schemas.microsoft.com/office/drawing/2014/main" id="{076037E4-63FA-15FD-E7FB-13EFE444896C}"/>
              </a:ext>
            </a:extLst>
          </p:cNvPr>
          <p:cNvGraphicFramePr>
            <a:graphicFrameLocks noGrp="1"/>
          </p:cNvGraphicFramePr>
          <p:nvPr>
            <p:extLst>
              <p:ext uri="{D42A27DB-BD31-4B8C-83A1-F6EECF244321}">
                <p14:modId xmlns:p14="http://schemas.microsoft.com/office/powerpoint/2010/main" val="1308791096"/>
              </p:ext>
            </p:extLst>
          </p:nvPr>
        </p:nvGraphicFramePr>
        <p:xfrm>
          <a:off x="281883" y="1152525"/>
          <a:ext cx="8550419" cy="3545951"/>
        </p:xfrm>
        <a:graphic>
          <a:graphicData uri="http://schemas.openxmlformats.org/drawingml/2006/table">
            <a:tbl>
              <a:tblPr>
                <a:tableStyleId>{AE997644-658D-4DC0-93D6-BF85825E38D0}</a:tableStyleId>
              </a:tblPr>
              <a:tblGrid>
                <a:gridCol w="515639">
                  <a:extLst>
                    <a:ext uri="{9D8B030D-6E8A-4147-A177-3AD203B41FA5}">
                      <a16:colId xmlns:a16="http://schemas.microsoft.com/office/drawing/2014/main" val="2526291072"/>
                    </a:ext>
                  </a:extLst>
                </a:gridCol>
                <a:gridCol w="761920">
                  <a:extLst>
                    <a:ext uri="{9D8B030D-6E8A-4147-A177-3AD203B41FA5}">
                      <a16:colId xmlns:a16="http://schemas.microsoft.com/office/drawing/2014/main" val="3027952423"/>
                    </a:ext>
                  </a:extLst>
                </a:gridCol>
                <a:gridCol w="1694121">
                  <a:extLst>
                    <a:ext uri="{9D8B030D-6E8A-4147-A177-3AD203B41FA5}">
                      <a16:colId xmlns:a16="http://schemas.microsoft.com/office/drawing/2014/main" val="2469534008"/>
                    </a:ext>
                  </a:extLst>
                </a:gridCol>
                <a:gridCol w="1736651">
                  <a:extLst>
                    <a:ext uri="{9D8B030D-6E8A-4147-A177-3AD203B41FA5}">
                      <a16:colId xmlns:a16="http://schemas.microsoft.com/office/drawing/2014/main" val="3968847761"/>
                    </a:ext>
                  </a:extLst>
                </a:gridCol>
                <a:gridCol w="1814623">
                  <a:extLst>
                    <a:ext uri="{9D8B030D-6E8A-4147-A177-3AD203B41FA5}">
                      <a16:colId xmlns:a16="http://schemas.microsoft.com/office/drawing/2014/main" val="3289908902"/>
                    </a:ext>
                  </a:extLst>
                </a:gridCol>
                <a:gridCol w="2027465">
                  <a:extLst>
                    <a:ext uri="{9D8B030D-6E8A-4147-A177-3AD203B41FA5}">
                      <a16:colId xmlns:a16="http://schemas.microsoft.com/office/drawing/2014/main" val="4073162802"/>
                    </a:ext>
                  </a:extLst>
                </a:gridCol>
              </a:tblGrid>
              <a:tr h="411421">
                <a:tc>
                  <a:txBody>
                    <a:bodyPr/>
                    <a:lstStyle/>
                    <a:p>
                      <a:pPr marR="0" algn="l" rtl="0">
                        <a:lnSpc>
                          <a:spcPct val="100000"/>
                        </a:lnSpc>
                        <a:spcBef>
                          <a:spcPts val="0"/>
                        </a:spcBef>
                        <a:spcAft>
                          <a:spcPts val="0"/>
                        </a:spcAft>
                        <a:buClr>
                          <a:srgbClr val="000000"/>
                        </a:buClr>
                        <a:buFont typeface="Arial"/>
                        <a:buNone/>
                      </a:pPr>
                      <a:r>
                        <a:rPr lang="en-IN" sz="1050" b="1" u="none" strike="noStrike" cap="none" dirty="0">
                          <a:solidFill>
                            <a:srgbClr val="000000"/>
                          </a:solidFill>
                          <a:sym typeface="Arial"/>
                        </a:rPr>
                        <a:t>Paper No.</a:t>
                      </a:r>
                      <a:endParaRPr lang="en-IN" sz="1050" b="1" i="0" u="none" strike="noStrike" cap="none" dirty="0">
                        <a:solidFill>
                          <a:srgbClr val="000000"/>
                        </a:solidFill>
                        <a:latin typeface="Arial"/>
                        <a:cs typeface="Arial"/>
                        <a:sym typeface="Arial"/>
                      </a:endParaRPr>
                    </a:p>
                  </a:txBody>
                  <a:tcPr marL="26415" marR="26415" marT="13207" marB="13207" anchor="ctr"/>
                </a:tc>
                <a:tc>
                  <a:txBody>
                    <a:bodyPr/>
                    <a:lstStyle/>
                    <a:p>
                      <a:pPr marR="0" algn="l" rtl="0">
                        <a:lnSpc>
                          <a:spcPct val="100000"/>
                        </a:lnSpc>
                        <a:spcBef>
                          <a:spcPts val="0"/>
                        </a:spcBef>
                        <a:spcAft>
                          <a:spcPts val="0"/>
                        </a:spcAft>
                        <a:buClr>
                          <a:srgbClr val="000000"/>
                        </a:buClr>
                        <a:buFont typeface="Arial"/>
                        <a:buNone/>
                      </a:pPr>
                      <a:r>
                        <a:rPr lang="en-IN" sz="1050" b="1" u="none" strike="noStrike" cap="none">
                          <a:solidFill>
                            <a:srgbClr val="000000"/>
                          </a:solidFill>
                          <a:sym typeface="Arial"/>
                        </a:rPr>
                        <a:t>Author &amp; Year</a:t>
                      </a:r>
                      <a:endParaRPr lang="en-IN" sz="1050" b="1" i="0" u="none" strike="noStrike" cap="none">
                        <a:solidFill>
                          <a:srgbClr val="000000"/>
                        </a:solidFill>
                        <a:latin typeface="Arial"/>
                        <a:cs typeface="Arial"/>
                        <a:sym typeface="Arial"/>
                      </a:endParaRPr>
                    </a:p>
                  </a:txBody>
                  <a:tcPr marL="26415" marR="26415" marT="13207" marB="13207" anchor="ctr"/>
                </a:tc>
                <a:tc>
                  <a:txBody>
                    <a:bodyPr/>
                    <a:lstStyle/>
                    <a:p>
                      <a:pPr marR="0" algn="l" rtl="0">
                        <a:lnSpc>
                          <a:spcPct val="100000"/>
                        </a:lnSpc>
                        <a:spcBef>
                          <a:spcPts val="0"/>
                        </a:spcBef>
                        <a:spcAft>
                          <a:spcPts val="0"/>
                        </a:spcAft>
                        <a:buClr>
                          <a:srgbClr val="000000"/>
                        </a:buClr>
                        <a:buFont typeface="Arial"/>
                        <a:buNone/>
                      </a:pPr>
                      <a:r>
                        <a:rPr lang="en-IN" sz="1050" b="1" u="none" strike="noStrike" cap="none">
                          <a:solidFill>
                            <a:srgbClr val="000000"/>
                          </a:solidFill>
                          <a:sym typeface="Arial"/>
                        </a:rPr>
                        <a:t>Title of Paper/Study</a:t>
                      </a:r>
                      <a:endParaRPr lang="en-IN" sz="1050" b="1" i="0" u="none" strike="noStrike" cap="none">
                        <a:solidFill>
                          <a:srgbClr val="000000"/>
                        </a:solidFill>
                        <a:latin typeface="Arial"/>
                        <a:cs typeface="Arial"/>
                        <a:sym typeface="Arial"/>
                      </a:endParaRPr>
                    </a:p>
                  </a:txBody>
                  <a:tcPr marL="26415" marR="26415" marT="13207" marB="13207" anchor="ctr"/>
                </a:tc>
                <a:tc>
                  <a:txBody>
                    <a:bodyPr/>
                    <a:lstStyle/>
                    <a:p>
                      <a:pPr marR="0" algn="l" rtl="0">
                        <a:lnSpc>
                          <a:spcPct val="100000"/>
                        </a:lnSpc>
                        <a:spcBef>
                          <a:spcPts val="0"/>
                        </a:spcBef>
                        <a:spcAft>
                          <a:spcPts val="0"/>
                        </a:spcAft>
                        <a:buClr>
                          <a:srgbClr val="000000"/>
                        </a:buClr>
                        <a:buFont typeface="Arial"/>
                        <a:buNone/>
                      </a:pPr>
                      <a:r>
                        <a:rPr lang="en-IN" sz="1050" b="1" u="none" strike="noStrike" cap="none">
                          <a:solidFill>
                            <a:srgbClr val="000000"/>
                          </a:solidFill>
                          <a:sym typeface="Arial"/>
                        </a:rPr>
                        <a:t>Methodology / Approach Used</a:t>
                      </a:r>
                      <a:endParaRPr lang="en-IN" sz="1050" b="1" i="0" u="none" strike="noStrike" cap="none">
                        <a:solidFill>
                          <a:srgbClr val="000000"/>
                        </a:solidFill>
                        <a:latin typeface="Arial"/>
                        <a:cs typeface="Arial"/>
                        <a:sym typeface="Arial"/>
                      </a:endParaRPr>
                    </a:p>
                  </a:txBody>
                  <a:tcPr marL="26415" marR="26415" marT="13207" marB="13207" anchor="ctr"/>
                </a:tc>
                <a:tc>
                  <a:txBody>
                    <a:bodyPr/>
                    <a:lstStyle/>
                    <a:p>
                      <a:pPr marR="0" algn="l" rtl="0">
                        <a:lnSpc>
                          <a:spcPct val="100000"/>
                        </a:lnSpc>
                        <a:spcBef>
                          <a:spcPts val="0"/>
                        </a:spcBef>
                        <a:spcAft>
                          <a:spcPts val="0"/>
                        </a:spcAft>
                        <a:buClr>
                          <a:srgbClr val="000000"/>
                        </a:buClr>
                        <a:buFont typeface="Arial"/>
                        <a:buNone/>
                      </a:pPr>
                      <a:r>
                        <a:rPr lang="en-IN" sz="1050" b="1" u="none" strike="noStrike" cap="none" dirty="0">
                          <a:solidFill>
                            <a:srgbClr val="000000"/>
                          </a:solidFill>
                          <a:sym typeface="Arial"/>
                        </a:rPr>
                        <a:t>Key Findings</a:t>
                      </a:r>
                      <a:endParaRPr lang="en-IN" sz="1050" b="1" i="0" u="none" strike="noStrike" cap="none" dirty="0">
                        <a:solidFill>
                          <a:srgbClr val="000000"/>
                        </a:solidFill>
                        <a:latin typeface="Arial"/>
                        <a:cs typeface="Arial"/>
                        <a:sym typeface="Arial"/>
                      </a:endParaRPr>
                    </a:p>
                  </a:txBody>
                  <a:tcPr marL="26415" marR="26415" marT="13207" marB="13207" anchor="ctr"/>
                </a:tc>
                <a:tc>
                  <a:txBody>
                    <a:bodyPr/>
                    <a:lstStyle/>
                    <a:p>
                      <a:pPr marR="0" algn="l" rtl="0">
                        <a:lnSpc>
                          <a:spcPct val="100000"/>
                        </a:lnSpc>
                        <a:spcBef>
                          <a:spcPts val="0"/>
                        </a:spcBef>
                        <a:spcAft>
                          <a:spcPts val="0"/>
                        </a:spcAft>
                        <a:buClr>
                          <a:srgbClr val="000000"/>
                        </a:buClr>
                        <a:buFont typeface="Arial"/>
                        <a:buNone/>
                      </a:pPr>
                      <a:r>
                        <a:rPr lang="en-IN" sz="1050" b="1" u="none" strike="noStrike" cap="none" dirty="0">
                          <a:solidFill>
                            <a:srgbClr val="000000"/>
                          </a:solidFill>
                          <a:sym typeface="Arial"/>
                        </a:rPr>
                        <a:t>Limitations / Gaps Identified</a:t>
                      </a:r>
                      <a:endParaRPr lang="en-IN" sz="1050" b="1" i="0" u="none" strike="noStrike" cap="none" dirty="0">
                        <a:solidFill>
                          <a:srgbClr val="000000"/>
                        </a:solidFill>
                        <a:latin typeface="Arial"/>
                        <a:cs typeface="Arial"/>
                        <a:sym typeface="Arial"/>
                      </a:endParaRPr>
                    </a:p>
                  </a:txBody>
                  <a:tcPr marL="26415" marR="26415" marT="13207" marB="13207" anchor="ctr"/>
                </a:tc>
                <a:extLst>
                  <a:ext uri="{0D108BD9-81ED-4DB2-BD59-A6C34878D82A}">
                    <a16:rowId xmlns:a16="http://schemas.microsoft.com/office/drawing/2014/main" val="2846663619"/>
                  </a:ext>
                </a:extLst>
              </a:tr>
              <a:tr h="981501">
                <a:tc>
                  <a:txBody>
                    <a:bodyPr/>
                    <a:lstStyle/>
                    <a:p>
                      <a:pPr marR="0" algn="l" rtl="0">
                        <a:lnSpc>
                          <a:spcPct val="100000"/>
                        </a:lnSpc>
                        <a:spcBef>
                          <a:spcPts val="0"/>
                        </a:spcBef>
                        <a:spcAft>
                          <a:spcPts val="0"/>
                        </a:spcAft>
                        <a:buClr>
                          <a:srgbClr val="000000"/>
                        </a:buClr>
                        <a:buFont typeface="Arial"/>
                        <a:buNone/>
                      </a:pPr>
                      <a:r>
                        <a:rPr lang="en-IN" sz="1050" b="1" i="0" u="none" strike="noStrike" cap="none" dirty="0">
                          <a:solidFill>
                            <a:srgbClr val="000000"/>
                          </a:solidFill>
                          <a:latin typeface="Arial"/>
                          <a:cs typeface="Arial"/>
                          <a:sym typeface="Arial"/>
                        </a:rPr>
                        <a:t>[1]</a:t>
                      </a:r>
                    </a:p>
                  </a:txBody>
                  <a:tcPr marL="26415" marR="26415" marT="13207" marB="13207" anchor="ctr"/>
                </a:tc>
                <a:tc>
                  <a:txBody>
                    <a:bodyPr/>
                    <a:lstStyle/>
                    <a:p>
                      <a:pPr marR="0" algn="l" rtl="0">
                        <a:lnSpc>
                          <a:spcPct val="100000"/>
                        </a:lnSpc>
                        <a:spcBef>
                          <a:spcPts val="0"/>
                        </a:spcBef>
                        <a:spcAft>
                          <a:spcPts val="0"/>
                        </a:spcAft>
                        <a:buClr>
                          <a:srgbClr val="000000"/>
                        </a:buClr>
                        <a:buFont typeface="Arial"/>
                        <a:buNone/>
                      </a:pPr>
                      <a:r>
                        <a:rPr lang="en-IN" sz="1050" b="0" u="none" strike="noStrike" cap="none" dirty="0">
                          <a:solidFill>
                            <a:srgbClr val="000000"/>
                          </a:solidFill>
                          <a:sym typeface="Arial"/>
                        </a:rPr>
                        <a:t>Park et al., 2005</a:t>
                      </a:r>
                      <a:endParaRPr lang="en-IN" sz="1050" b="0" i="0" u="none" strike="noStrike" cap="none" dirty="0">
                        <a:solidFill>
                          <a:srgbClr val="000000"/>
                        </a:solidFill>
                        <a:latin typeface="Arial"/>
                        <a:cs typeface="Arial"/>
                        <a:sym typeface="Arial"/>
                      </a:endParaRPr>
                    </a:p>
                  </a:txBody>
                  <a:tcPr marL="26415" marR="26415" marT="13207" marB="13207" anchor="ctr"/>
                </a:tc>
                <a:tc>
                  <a:txBody>
                    <a:bodyPr/>
                    <a:lstStyle/>
                    <a:p>
                      <a:pPr marR="0" algn="l" rtl="0">
                        <a:lnSpc>
                          <a:spcPct val="100000"/>
                        </a:lnSpc>
                        <a:spcBef>
                          <a:spcPts val="0"/>
                        </a:spcBef>
                        <a:spcAft>
                          <a:spcPts val="0"/>
                        </a:spcAft>
                        <a:buClr>
                          <a:srgbClr val="000000"/>
                        </a:buClr>
                        <a:buFont typeface="Arial"/>
                        <a:buNone/>
                      </a:pPr>
                      <a:r>
                        <a:rPr lang="en-US" sz="1050" b="0" u="none" strike="noStrike" cap="none" dirty="0">
                          <a:solidFill>
                            <a:srgbClr val="000000"/>
                          </a:solidFill>
                          <a:sym typeface="Arial"/>
                        </a:rPr>
                        <a:t>The Application of Support Vector Machines (SVM) for Traffic Condition Prediction</a:t>
                      </a:r>
                      <a:endParaRPr lang="en-US" sz="1050" b="0" i="0" u="none" strike="noStrike" cap="none" dirty="0">
                        <a:solidFill>
                          <a:srgbClr val="000000"/>
                        </a:solidFill>
                        <a:latin typeface="Arial"/>
                        <a:cs typeface="Arial"/>
                        <a:sym typeface="Arial"/>
                      </a:endParaRPr>
                    </a:p>
                  </a:txBody>
                  <a:tcPr marL="26415" marR="26415" marT="13207" marB="13207" anchor="ctr"/>
                </a:tc>
                <a:tc>
                  <a:txBody>
                    <a:bodyPr/>
                    <a:lstStyle/>
                    <a:p>
                      <a:pPr marR="0" algn="l" rtl="0">
                        <a:lnSpc>
                          <a:spcPct val="100000"/>
                        </a:lnSpc>
                        <a:spcBef>
                          <a:spcPts val="0"/>
                        </a:spcBef>
                        <a:spcAft>
                          <a:spcPts val="0"/>
                        </a:spcAft>
                        <a:buClr>
                          <a:srgbClr val="000000"/>
                        </a:buClr>
                        <a:buFont typeface="Arial"/>
                        <a:buNone/>
                      </a:pPr>
                      <a:r>
                        <a:rPr lang="en-US" sz="1050" b="0" u="none" strike="noStrike" cap="none">
                          <a:solidFill>
                            <a:srgbClr val="000000"/>
                          </a:solidFill>
                          <a:sym typeface="Arial"/>
                        </a:rPr>
                        <a:t>SVM applied on ITS data for Level of Service (LOS) prediction</a:t>
                      </a:r>
                      <a:endParaRPr lang="en-US" sz="1050" b="0" i="0" u="none" strike="noStrike" cap="none">
                        <a:solidFill>
                          <a:srgbClr val="000000"/>
                        </a:solidFill>
                        <a:latin typeface="Arial"/>
                        <a:cs typeface="Arial"/>
                        <a:sym typeface="Arial"/>
                      </a:endParaRPr>
                    </a:p>
                  </a:txBody>
                  <a:tcPr marL="26415" marR="26415" marT="13207" marB="13207" anchor="ctr"/>
                </a:tc>
                <a:tc>
                  <a:txBody>
                    <a:bodyPr/>
                    <a:lstStyle/>
                    <a:p>
                      <a:pPr marR="0" algn="l" rtl="0">
                        <a:lnSpc>
                          <a:spcPct val="100000"/>
                        </a:lnSpc>
                        <a:spcBef>
                          <a:spcPts val="0"/>
                        </a:spcBef>
                        <a:spcAft>
                          <a:spcPts val="0"/>
                        </a:spcAft>
                        <a:buClr>
                          <a:srgbClr val="000000"/>
                        </a:buClr>
                        <a:buFont typeface="Arial"/>
                        <a:buNone/>
                      </a:pPr>
                      <a:r>
                        <a:rPr lang="en-US" sz="1050" b="0" u="none" strike="noStrike" cap="none">
                          <a:solidFill>
                            <a:srgbClr val="000000"/>
                          </a:solidFill>
                          <a:sym typeface="Arial"/>
                        </a:rPr>
                        <a:t>Demonstrated accurate traffic condition prediction in real-time ITS datasets</a:t>
                      </a:r>
                      <a:endParaRPr lang="en-US" sz="1050" b="0" i="0" u="none" strike="noStrike" cap="none">
                        <a:solidFill>
                          <a:srgbClr val="000000"/>
                        </a:solidFill>
                        <a:latin typeface="Arial"/>
                        <a:cs typeface="Arial"/>
                        <a:sym typeface="Arial"/>
                      </a:endParaRPr>
                    </a:p>
                  </a:txBody>
                  <a:tcPr marL="26415" marR="26415" marT="13207" marB="13207" anchor="ctr"/>
                </a:tc>
                <a:tc>
                  <a:txBody>
                    <a:bodyPr/>
                    <a:lstStyle/>
                    <a:p>
                      <a:pPr marR="0" algn="l" rtl="0">
                        <a:lnSpc>
                          <a:spcPct val="100000"/>
                        </a:lnSpc>
                        <a:spcBef>
                          <a:spcPts val="0"/>
                        </a:spcBef>
                        <a:spcAft>
                          <a:spcPts val="0"/>
                        </a:spcAft>
                        <a:buClr>
                          <a:srgbClr val="000000"/>
                        </a:buClr>
                        <a:buFont typeface="Arial"/>
                        <a:buNone/>
                      </a:pPr>
                      <a:r>
                        <a:rPr lang="en-US" sz="1050" b="0" u="none" strike="noStrike" cap="none" dirty="0">
                          <a:solidFill>
                            <a:srgbClr val="000000"/>
                          </a:solidFill>
                          <a:sym typeface="Arial"/>
                        </a:rPr>
                        <a:t>Geographically specific (San Antonio); limited applicability to Indian cities</a:t>
                      </a:r>
                      <a:endParaRPr lang="en-US" sz="1050" b="0" i="0" u="none" strike="noStrike" cap="none" dirty="0">
                        <a:solidFill>
                          <a:srgbClr val="000000"/>
                        </a:solidFill>
                        <a:latin typeface="Arial"/>
                        <a:cs typeface="Arial"/>
                        <a:sym typeface="Arial"/>
                      </a:endParaRPr>
                    </a:p>
                  </a:txBody>
                  <a:tcPr marL="26415" marR="26415" marT="13207" marB="13207" anchor="ctr"/>
                </a:tc>
                <a:extLst>
                  <a:ext uri="{0D108BD9-81ED-4DB2-BD59-A6C34878D82A}">
                    <a16:rowId xmlns:a16="http://schemas.microsoft.com/office/drawing/2014/main" val="223394136"/>
                  </a:ext>
                </a:extLst>
              </a:tr>
              <a:tr h="1171528">
                <a:tc>
                  <a:txBody>
                    <a:bodyPr/>
                    <a:lstStyle/>
                    <a:p>
                      <a:pPr marR="0" algn="l" rtl="0">
                        <a:lnSpc>
                          <a:spcPct val="100000"/>
                        </a:lnSpc>
                        <a:spcBef>
                          <a:spcPts val="0"/>
                        </a:spcBef>
                        <a:spcAft>
                          <a:spcPts val="0"/>
                        </a:spcAft>
                        <a:buClr>
                          <a:srgbClr val="000000"/>
                        </a:buClr>
                        <a:buFont typeface="Arial"/>
                        <a:buNone/>
                      </a:pPr>
                      <a:r>
                        <a:rPr lang="en-IN" sz="1050" b="1" u="none" strike="noStrike" cap="none" dirty="0">
                          <a:solidFill>
                            <a:srgbClr val="000000"/>
                          </a:solidFill>
                          <a:sym typeface="Arial"/>
                        </a:rPr>
                        <a:t>[2]</a:t>
                      </a:r>
                      <a:endParaRPr lang="en-IN" sz="1050" b="1" i="0" u="none" strike="noStrike" cap="none" dirty="0">
                        <a:solidFill>
                          <a:srgbClr val="000000"/>
                        </a:solidFill>
                        <a:latin typeface="Arial"/>
                        <a:cs typeface="Arial"/>
                        <a:sym typeface="Arial"/>
                      </a:endParaRPr>
                    </a:p>
                  </a:txBody>
                  <a:tcPr marL="26415" marR="26415" marT="13207" marB="13207" anchor="ctr"/>
                </a:tc>
                <a:tc>
                  <a:txBody>
                    <a:bodyPr/>
                    <a:lstStyle/>
                    <a:p>
                      <a:pPr marR="0" algn="l" rtl="0">
                        <a:lnSpc>
                          <a:spcPct val="100000"/>
                        </a:lnSpc>
                        <a:spcBef>
                          <a:spcPts val="0"/>
                        </a:spcBef>
                        <a:spcAft>
                          <a:spcPts val="0"/>
                        </a:spcAft>
                        <a:buClr>
                          <a:srgbClr val="000000"/>
                        </a:buClr>
                        <a:buFont typeface="Arial"/>
                        <a:buNone/>
                      </a:pPr>
                      <a:r>
                        <a:rPr lang="en-IN" sz="1050" b="0" u="none" strike="noStrike" cap="none">
                          <a:solidFill>
                            <a:srgbClr val="000000"/>
                          </a:solidFill>
                          <a:sym typeface="Arial"/>
                        </a:rPr>
                        <a:t>Shirsath et al., 2024</a:t>
                      </a:r>
                      <a:endParaRPr lang="en-IN" sz="1050" b="0" i="0" u="none" strike="noStrike" cap="none">
                        <a:solidFill>
                          <a:srgbClr val="000000"/>
                        </a:solidFill>
                        <a:latin typeface="Arial"/>
                        <a:cs typeface="Arial"/>
                        <a:sym typeface="Arial"/>
                      </a:endParaRPr>
                    </a:p>
                  </a:txBody>
                  <a:tcPr marL="26415" marR="26415" marT="13207" marB="13207" anchor="ctr"/>
                </a:tc>
                <a:tc>
                  <a:txBody>
                    <a:bodyPr/>
                    <a:lstStyle/>
                    <a:p>
                      <a:pPr marR="0" algn="l" rtl="0">
                        <a:lnSpc>
                          <a:spcPct val="100000"/>
                        </a:lnSpc>
                        <a:spcBef>
                          <a:spcPts val="0"/>
                        </a:spcBef>
                        <a:spcAft>
                          <a:spcPts val="0"/>
                        </a:spcAft>
                        <a:buClr>
                          <a:srgbClr val="000000"/>
                        </a:buClr>
                        <a:buFont typeface="Arial"/>
                        <a:buNone/>
                      </a:pPr>
                      <a:r>
                        <a:rPr lang="en-US" sz="1050" b="0" u="none" strike="noStrike" cap="none" dirty="0">
                          <a:solidFill>
                            <a:srgbClr val="000000"/>
                          </a:solidFill>
                          <a:sym typeface="Arial"/>
                        </a:rPr>
                        <a:t>Intelligent Traffic Management for Vehicular Networks using Machine Learning</a:t>
                      </a:r>
                      <a:endParaRPr lang="en-US" sz="1050" b="0" i="0" u="none" strike="noStrike" cap="none" dirty="0">
                        <a:solidFill>
                          <a:srgbClr val="000000"/>
                        </a:solidFill>
                        <a:latin typeface="Arial"/>
                        <a:cs typeface="Arial"/>
                        <a:sym typeface="Arial"/>
                      </a:endParaRPr>
                    </a:p>
                  </a:txBody>
                  <a:tcPr marL="26415" marR="26415" marT="13207" marB="13207" anchor="ctr"/>
                </a:tc>
                <a:tc>
                  <a:txBody>
                    <a:bodyPr/>
                    <a:lstStyle/>
                    <a:p>
                      <a:pPr marR="0" algn="l" rtl="0">
                        <a:lnSpc>
                          <a:spcPct val="100000"/>
                        </a:lnSpc>
                        <a:spcBef>
                          <a:spcPts val="0"/>
                        </a:spcBef>
                        <a:spcAft>
                          <a:spcPts val="0"/>
                        </a:spcAft>
                        <a:buClr>
                          <a:srgbClr val="000000"/>
                        </a:buClr>
                        <a:buFont typeface="Arial"/>
                        <a:buNone/>
                      </a:pPr>
                      <a:r>
                        <a:rPr lang="en-US" sz="1050" b="0" u="none" strike="noStrike" cap="none" dirty="0">
                          <a:solidFill>
                            <a:srgbClr val="000000"/>
                          </a:solidFill>
                          <a:sym typeface="Arial"/>
                        </a:rPr>
                        <a:t>SVM with RBF kernel for non-linear traffic environment modeling</a:t>
                      </a:r>
                      <a:endParaRPr lang="en-US" sz="1050" b="0" i="0" u="none" strike="noStrike" cap="none" dirty="0">
                        <a:solidFill>
                          <a:srgbClr val="000000"/>
                        </a:solidFill>
                        <a:latin typeface="Arial"/>
                        <a:cs typeface="Arial"/>
                        <a:sym typeface="Arial"/>
                      </a:endParaRPr>
                    </a:p>
                  </a:txBody>
                  <a:tcPr marL="26415" marR="26415" marT="13207" marB="13207" anchor="ctr"/>
                </a:tc>
                <a:tc>
                  <a:txBody>
                    <a:bodyPr/>
                    <a:lstStyle/>
                    <a:p>
                      <a:pPr marR="0" algn="l" rtl="0">
                        <a:lnSpc>
                          <a:spcPct val="100000"/>
                        </a:lnSpc>
                        <a:spcBef>
                          <a:spcPts val="0"/>
                        </a:spcBef>
                        <a:spcAft>
                          <a:spcPts val="0"/>
                        </a:spcAft>
                        <a:buClr>
                          <a:srgbClr val="000000"/>
                        </a:buClr>
                        <a:buFont typeface="Arial"/>
                        <a:buNone/>
                      </a:pPr>
                      <a:r>
                        <a:rPr lang="en-US" sz="1050" b="0" u="none" strike="noStrike" cap="none">
                          <a:solidFill>
                            <a:srgbClr val="000000"/>
                          </a:solidFill>
                          <a:sym typeface="Arial"/>
                        </a:rPr>
                        <a:t>Achieved better congestion resolution and optimized traffic flow</a:t>
                      </a:r>
                      <a:endParaRPr lang="en-US" sz="1050" b="0" i="0" u="none" strike="noStrike" cap="none">
                        <a:solidFill>
                          <a:srgbClr val="000000"/>
                        </a:solidFill>
                        <a:latin typeface="Arial"/>
                        <a:cs typeface="Arial"/>
                        <a:sym typeface="Arial"/>
                      </a:endParaRPr>
                    </a:p>
                  </a:txBody>
                  <a:tcPr marL="26415" marR="26415" marT="13207" marB="13207" anchor="ctr"/>
                </a:tc>
                <a:tc>
                  <a:txBody>
                    <a:bodyPr/>
                    <a:lstStyle/>
                    <a:p>
                      <a:pPr marR="0" algn="l" rtl="0">
                        <a:lnSpc>
                          <a:spcPct val="100000"/>
                        </a:lnSpc>
                        <a:spcBef>
                          <a:spcPts val="0"/>
                        </a:spcBef>
                        <a:spcAft>
                          <a:spcPts val="0"/>
                        </a:spcAft>
                        <a:buClr>
                          <a:srgbClr val="000000"/>
                        </a:buClr>
                        <a:buFont typeface="Arial"/>
                        <a:buNone/>
                      </a:pPr>
                      <a:r>
                        <a:rPr lang="en-US" sz="1050" b="0" u="none" strike="noStrike" cap="none">
                          <a:solidFill>
                            <a:srgbClr val="000000"/>
                          </a:solidFill>
                          <a:sym typeface="Arial"/>
                        </a:rPr>
                        <a:t>Focused on vehicular network modeling; real-time adaptive signals not implemented</a:t>
                      </a:r>
                      <a:endParaRPr lang="en-US" sz="1050" b="0" i="0" u="none" strike="noStrike" cap="none">
                        <a:solidFill>
                          <a:srgbClr val="000000"/>
                        </a:solidFill>
                        <a:latin typeface="Arial"/>
                        <a:cs typeface="Arial"/>
                        <a:sym typeface="Arial"/>
                      </a:endParaRPr>
                    </a:p>
                  </a:txBody>
                  <a:tcPr marL="26415" marR="26415" marT="13207" marB="13207" anchor="ctr"/>
                </a:tc>
                <a:extLst>
                  <a:ext uri="{0D108BD9-81ED-4DB2-BD59-A6C34878D82A}">
                    <a16:rowId xmlns:a16="http://schemas.microsoft.com/office/drawing/2014/main" val="1138145269"/>
                  </a:ext>
                </a:extLst>
              </a:tr>
              <a:tr h="981501">
                <a:tc>
                  <a:txBody>
                    <a:bodyPr/>
                    <a:lstStyle/>
                    <a:p>
                      <a:pPr marR="0" algn="l" rtl="0">
                        <a:lnSpc>
                          <a:spcPct val="100000"/>
                        </a:lnSpc>
                        <a:spcBef>
                          <a:spcPts val="0"/>
                        </a:spcBef>
                        <a:spcAft>
                          <a:spcPts val="0"/>
                        </a:spcAft>
                        <a:buClr>
                          <a:srgbClr val="000000"/>
                        </a:buClr>
                        <a:buFont typeface="Arial"/>
                        <a:buNone/>
                      </a:pPr>
                      <a:r>
                        <a:rPr lang="en-IN" sz="1050" b="1" u="none" strike="noStrike" cap="none" dirty="0">
                          <a:solidFill>
                            <a:srgbClr val="000000"/>
                          </a:solidFill>
                          <a:sym typeface="Arial"/>
                        </a:rPr>
                        <a:t>[3]</a:t>
                      </a:r>
                      <a:endParaRPr lang="en-IN" sz="1050" b="1" i="0" u="none" strike="noStrike" cap="none" dirty="0">
                        <a:solidFill>
                          <a:srgbClr val="000000"/>
                        </a:solidFill>
                        <a:latin typeface="Arial"/>
                        <a:cs typeface="Arial"/>
                        <a:sym typeface="Arial"/>
                      </a:endParaRPr>
                    </a:p>
                  </a:txBody>
                  <a:tcPr marL="26415" marR="26415" marT="13207" marB="13207" anchor="ctr"/>
                </a:tc>
                <a:tc>
                  <a:txBody>
                    <a:bodyPr/>
                    <a:lstStyle/>
                    <a:p>
                      <a:pPr marR="0" algn="l" rtl="0">
                        <a:lnSpc>
                          <a:spcPct val="100000"/>
                        </a:lnSpc>
                        <a:spcBef>
                          <a:spcPts val="0"/>
                        </a:spcBef>
                        <a:spcAft>
                          <a:spcPts val="0"/>
                        </a:spcAft>
                        <a:buClr>
                          <a:srgbClr val="000000"/>
                        </a:buClr>
                        <a:buFont typeface="Arial"/>
                        <a:buNone/>
                      </a:pPr>
                      <a:r>
                        <a:rPr lang="en-IN" sz="1050" b="0" u="none" strike="noStrike" cap="none">
                          <a:solidFill>
                            <a:srgbClr val="000000"/>
                          </a:solidFill>
                          <a:sym typeface="Arial"/>
                        </a:rPr>
                        <a:t>Chen et al., 2022</a:t>
                      </a:r>
                      <a:endParaRPr lang="en-IN" sz="1050" b="0" i="0" u="none" strike="noStrike" cap="none">
                        <a:solidFill>
                          <a:srgbClr val="000000"/>
                        </a:solidFill>
                        <a:latin typeface="Arial"/>
                        <a:cs typeface="Arial"/>
                        <a:sym typeface="Arial"/>
                      </a:endParaRPr>
                    </a:p>
                  </a:txBody>
                  <a:tcPr marL="26415" marR="26415" marT="13207" marB="13207" anchor="ctr"/>
                </a:tc>
                <a:tc>
                  <a:txBody>
                    <a:bodyPr/>
                    <a:lstStyle/>
                    <a:p>
                      <a:pPr marR="0" algn="l" rtl="0">
                        <a:lnSpc>
                          <a:spcPct val="100000"/>
                        </a:lnSpc>
                        <a:spcBef>
                          <a:spcPts val="0"/>
                        </a:spcBef>
                        <a:spcAft>
                          <a:spcPts val="0"/>
                        </a:spcAft>
                        <a:buClr>
                          <a:srgbClr val="000000"/>
                        </a:buClr>
                        <a:buFont typeface="Arial"/>
                        <a:buNone/>
                      </a:pPr>
                      <a:r>
                        <a:rPr lang="en-US" sz="1050" b="0" u="none" strike="noStrike" cap="none" dirty="0">
                          <a:solidFill>
                            <a:srgbClr val="000000"/>
                          </a:solidFill>
                          <a:sym typeface="Arial"/>
                        </a:rPr>
                        <a:t>A SVM Approach for Assessing Traffic Congestion State by Similarity Measures</a:t>
                      </a:r>
                      <a:endParaRPr lang="en-US" sz="1050" b="0" i="0" u="none" strike="noStrike" cap="none" dirty="0">
                        <a:solidFill>
                          <a:srgbClr val="000000"/>
                        </a:solidFill>
                        <a:latin typeface="Arial"/>
                        <a:cs typeface="Arial"/>
                        <a:sym typeface="Arial"/>
                      </a:endParaRPr>
                    </a:p>
                  </a:txBody>
                  <a:tcPr marL="26415" marR="26415" marT="13207" marB="13207" anchor="ctr"/>
                </a:tc>
                <a:tc>
                  <a:txBody>
                    <a:bodyPr/>
                    <a:lstStyle/>
                    <a:p>
                      <a:pPr marR="0" algn="l" rtl="0">
                        <a:lnSpc>
                          <a:spcPct val="100000"/>
                        </a:lnSpc>
                        <a:spcBef>
                          <a:spcPts val="0"/>
                        </a:spcBef>
                        <a:spcAft>
                          <a:spcPts val="0"/>
                        </a:spcAft>
                        <a:buClr>
                          <a:srgbClr val="000000"/>
                        </a:buClr>
                        <a:buFont typeface="Arial"/>
                        <a:buNone/>
                      </a:pPr>
                      <a:r>
                        <a:rPr lang="en-US" sz="1050" b="0" u="none" strike="noStrike" cap="none">
                          <a:solidFill>
                            <a:srgbClr val="000000"/>
                          </a:solidFill>
                          <a:sym typeface="Arial"/>
                        </a:rPr>
                        <a:t>SVM classification with similarity measures for congestion state detection</a:t>
                      </a:r>
                      <a:endParaRPr lang="en-US" sz="1050" b="0" i="0" u="none" strike="noStrike" cap="none">
                        <a:solidFill>
                          <a:srgbClr val="000000"/>
                        </a:solidFill>
                        <a:latin typeface="Arial"/>
                        <a:cs typeface="Arial"/>
                        <a:sym typeface="Arial"/>
                      </a:endParaRPr>
                    </a:p>
                  </a:txBody>
                  <a:tcPr marL="26415" marR="26415" marT="13207" marB="13207" anchor="ctr"/>
                </a:tc>
                <a:tc>
                  <a:txBody>
                    <a:bodyPr/>
                    <a:lstStyle/>
                    <a:p>
                      <a:pPr marR="0" algn="l" rtl="0">
                        <a:lnSpc>
                          <a:spcPct val="100000"/>
                        </a:lnSpc>
                        <a:spcBef>
                          <a:spcPts val="0"/>
                        </a:spcBef>
                        <a:spcAft>
                          <a:spcPts val="0"/>
                        </a:spcAft>
                        <a:buClr>
                          <a:srgbClr val="000000"/>
                        </a:buClr>
                        <a:buFont typeface="Arial"/>
                        <a:buNone/>
                      </a:pPr>
                      <a:r>
                        <a:rPr lang="en-US" sz="1050" b="0" u="none" strike="noStrike" cap="none" dirty="0">
                          <a:solidFill>
                            <a:srgbClr val="000000"/>
                          </a:solidFill>
                          <a:sym typeface="Arial"/>
                        </a:rPr>
                        <a:t>High accuracy in real-time congestion classification</a:t>
                      </a:r>
                      <a:endParaRPr lang="en-US" sz="1050" b="0" i="0" u="none" strike="noStrike" cap="none" dirty="0">
                        <a:solidFill>
                          <a:srgbClr val="000000"/>
                        </a:solidFill>
                        <a:latin typeface="Arial"/>
                        <a:cs typeface="Arial"/>
                        <a:sym typeface="Arial"/>
                      </a:endParaRPr>
                    </a:p>
                  </a:txBody>
                  <a:tcPr marL="26415" marR="26415" marT="13207" marB="13207" anchor="ctr"/>
                </a:tc>
                <a:tc>
                  <a:txBody>
                    <a:bodyPr/>
                    <a:lstStyle/>
                    <a:p>
                      <a:pPr marR="0" algn="l" rtl="0">
                        <a:lnSpc>
                          <a:spcPct val="100000"/>
                        </a:lnSpc>
                        <a:spcBef>
                          <a:spcPts val="0"/>
                        </a:spcBef>
                        <a:spcAft>
                          <a:spcPts val="0"/>
                        </a:spcAft>
                        <a:buClr>
                          <a:srgbClr val="000000"/>
                        </a:buClr>
                        <a:buFont typeface="Arial"/>
                        <a:buNone/>
                      </a:pPr>
                      <a:r>
                        <a:rPr lang="en-US" sz="1050" b="0" u="none" strike="noStrike" cap="none" dirty="0">
                          <a:solidFill>
                            <a:srgbClr val="000000"/>
                          </a:solidFill>
                          <a:sym typeface="Arial"/>
                        </a:rPr>
                        <a:t>No integration into signal regulation; focuses only on congestion state recognition</a:t>
                      </a:r>
                      <a:endParaRPr lang="en-US" sz="1050" b="0" i="0" u="none" strike="noStrike" cap="none" dirty="0">
                        <a:solidFill>
                          <a:srgbClr val="000000"/>
                        </a:solidFill>
                        <a:latin typeface="Arial"/>
                        <a:cs typeface="Arial"/>
                        <a:sym typeface="Arial"/>
                      </a:endParaRPr>
                    </a:p>
                  </a:txBody>
                  <a:tcPr marL="26415" marR="26415" marT="13207" marB="13207" anchor="ctr"/>
                </a:tc>
                <a:extLst>
                  <a:ext uri="{0D108BD9-81ED-4DB2-BD59-A6C34878D82A}">
                    <a16:rowId xmlns:a16="http://schemas.microsoft.com/office/drawing/2014/main" val="3372896453"/>
                  </a:ext>
                </a:extLst>
              </a:tr>
            </a:tbl>
          </a:graphicData>
        </a:graphic>
      </p:graphicFrame>
    </p:spTree>
    <p:extLst>
      <p:ext uri="{BB962C8B-B14F-4D97-AF65-F5344CB8AC3E}">
        <p14:creationId xmlns:p14="http://schemas.microsoft.com/office/powerpoint/2010/main" val="4116398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0736245-A511-2F1B-399E-7C9B89AC8675}"/>
              </a:ext>
            </a:extLst>
          </p:cNvPr>
          <p:cNvSpPr>
            <a:spLocks noGrp="1"/>
          </p:cNvSpPr>
          <p:nvPr>
            <p:ph type="sldNum" idx="12"/>
          </p:nvPr>
        </p:nvSpPr>
        <p:spPr>
          <a:xfrm>
            <a:off x="8472458" y="4683842"/>
            <a:ext cx="548700" cy="393600"/>
          </a:xfrm>
        </p:spPr>
        <p:txBody>
          <a:bodyPr/>
          <a:lstStyle/>
          <a:p>
            <a:pPr marL="0" lvl="0" indent="0" algn="r" rtl="0">
              <a:spcBef>
                <a:spcPts val="0"/>
              </a:spcBef>
              <a:spcAft>
                <a:spcPts val="0"/>
              </a:spcAft>
              <a:buNone/>
            </a:pPr>
            <a:fld id="{00000000-1234-1234-1234-123412341234}" type="slidenum">
              <a:rPr lang="en" smtClean="0"/>
              <a:t>8</a:t>
            </a:fld>
            <a:endParaRPr lang="en"/>
          </a:p>
        </p:txBody>
      </p:sp>
      <p:graphicFrame>
        <p:nvGraphicFramePr>
          <p:cNvPr id="6" name="Table 5">
            <a:extLst>
              <a:ext uri="{FF2B5EF4-FFF2-40B4-BE49-F238E27FC236}">
                <a16:creationId xmlns:a16="http://schemas.microsoft.com/office/drawing/2014/main" id="{AE17E4D3-431C-6C14-430B-A3DE73B53E3D}"/>
              </a:ext>
            </a:extLst>
          </p:cNvPr>
          <p:cNvGraphicFramePr>
            <a:graphicFrameLocks noGrp="1"/>
          </p:cNvGraphicFramePr>
          <p:nvPr>
            <p:extLst>
              <p:ext uri="{D42A27DB-BD31-4B8C-83A1-F6EECF244321}">
                <p14:modId xmlns:p14="http://schemas.microsoft.com/office/powerpoint/2010/main" val="744378298"/>
              </p:ext>
            </p:extLst>
          </p:nvPr>
        </p:nvGraphicFramePr>
        <p:xfrm>
          <a:off x="347330" y="317126"/>
          <a:ext cx="8399720" cy="4438012"/>
        </p:xfrm>
        <a:graphic>
          <a:graphicData uri="http://schemas.openxmlformats.org/drawingml/2006/table">
            <a:tbl>
              <a:tblPr firstRow="1" bandRow="1">
                <a:tableStyleId>{AE997644-658D-4DC0-93D6-BF85825E38D0}</a:tableStyleId>
              </a:tblPr>
              <a:tblGrid>
                <a:gridCol w="673337">
                  <a:extLst>
                    <a:ext uri="{9D8B030D-6E8A-4147-A177-3AD203B41FA5}">
                      <a16:colId xmlns:a16="http://schemas.microsoft.com/office/drawing/2014/main" val="4101620484"/>
                    </a:ext>
                  </a:extLst>
                </a:gridCol>
                <a:gridCol w="1142866">
                  <a:extLst>
                    <a:ext uri="{9D8B030D-6E8A-4147-A177-3AD203B41FA5}">
                      <a16:colId xmlns:a16="http://schemas.microsoft.com/office/drawing/2014/main" val="1948645790"/>
                    </a:ext>
                  </a:extLst>
                </a:gridCol>
                <a:gridCol w="1416313">
                  <a:extLst>
                    <a:ext uri="{9D8B030D-6E8A-4147-A177-3AD203B41FA5}">
                      <a16:colId xmlns:a16="http://schemas.microsoft.com/office/drawing/2014/main" val="895495180"/>
                    </a:ext>
                  </a:extLst>
                </a:gridCol>
                <a:gridCol w="1612635">
                  <a:extLst>
                    <a:ext uri="{9D8B030D-6E8A-4147-A177-3AD203B41FA5}">
                      <a16:colId xmlns:a16="http://schemas.microsoft.com/office/drawing/2014/main" val="698722614"/>
                    </a:ext>
                  </a:extLst>
                </a:gridCol>
                <a:gridCol w="1584588">
                  <a:extLst>
                    <a:ext uri="{9D8B030D-6E8A-4147-A177-3AD203B41FA5}">
                      <a16:colId xmlns:a16="http://schemas.microsoft.com/office/drawing/2014/main" val="1320609228"/>
                    </a:ext>
                  </a:extLst>
                </a:gridCol>
                <a:gridCol w="1969981">
                  <a:extLst>
                    <a:ext uri="{9D8B030D-6E8A-4147-A177-3AD203B41FA5}">
                      <a16:colId xmlns:a16="http://schemas.microsoft.com/office/drawing/2014/main" val="3274376321"/>
                    </a:ext>
                  </a:extLst>
                </a:gridCol>
              </a:tblGrid>
              <a:tr h="340525">
                <a:tc>
                  <a:txBody>
                    <a:bodyPr/>
                    <a:lstStyle/>
                    <a:p>
                      <a:pPr>
                        <a:buNone/>
                      </a:pPr>
                      <a:r>
                        <a:rPr lang="en-IN" sz="1050" b="1" dirty="0"/>
                        <a:t>Sr No.</a:t>
                      </a:r>
                    </a:p>
                  </a:txBody>
                  <a:tcPr marL="26415" marR="26415" marT="13207" marB="13207" anchor="ctr"/>
                </a:tc>
                <a:tc>
                  <a:txBody>
                    <a:bodyPr/>
                    <a:lstStyle/>
                    <a:p>
                      <a:pPr>
                        <a:buNone/>
                      </a:pPr>
                      <a:r>
                        <a:rPr lang="en-IN" sz="1050" b="1"/>
                        <a:t>Author &amp; Year</a:t>
                      </a:r>
                    </a:p>
                  </a:txBody>
                  <a:tcPr marL="26415" marR="26415" marT="13207" marB="13207" anchor="ctr"/>
                </a:tc>
                <a:tc>
                  <a:txBody>
                    <a:bodyPr/>
                    <a:lstStyle/>
                    <a:p>
                      <a:pPr>
                        <a:buNone/>
                      </a:pPr>
                      <a:r>
                        <a:rPr lang="en-IN" sz="1050" b="1" dirty="0"/>
                        <a:t>Title of Paper/Study</a:t>
                      </a:r>
                    </a:p>
                  </a:txBody>
                  <a:tcPr marL="26415" marR="26415" marT="13207" marB="13207" anchor="ctr"/>
                </a:tc>
                <a:tc>
                  <a:txBody>
                    <a:bodyPr/>
                    <a:lstStyle/>
                    <a:p>
                      <a:pPr>
                        <a:buNone/>
                      </a:pPr>
                      <a:r>
                        <a:rPr lang="en-IN" sz="1050" b="1" dirty="0"/>
                        <a:t>Methodology / Approach Used</a:t>
                      </a:r>
                    </a:p>
                  </a:txBody>
                  <a:tcPr marL="26415" marR="26415" marT="13207" marB="13207" anchor="ctr"/>
                </a:tc>
                <a:tc>
                  <a:txBody>
                    <a:bodyPr/>
                    <a:lstStyle/>
                    <a:p>
                      <a:pPr>
                        <a:buNone/>
                      </a:pPr>
                      <a:r>
                        <a:rPr lang="en-IN" sz="1050" b="1" dirty="0"/>
                        <a:t>Key Findings</a:t>
                      </a:r>
                    </a:p>
                  </a:txBody>
                  <a:tcPr marL="26415" marR="26415" marT="13207" marB="13207" anchor="ctr"/>
                </a:tc>
                <a:tc>
                  <a:txBody>
                    <a:bodyPr/>
                    <a:lstStyle/>
                    <a:p>
                      <a:pPr>
                        <a:buNone/>
                      </a:pPr>
                      <a:r>
                        <a:rPr lang="en-IN" sz="1050" b="1" dirty="0"/>
                        <a:t>Limitations / Gaps Identified</a:t>
                      </a:r>
                    </a:p>
                  </a:txBody>
                  <a:tcPr marL="26415" marR="26415" marT="13207" marB="13207" anchor="ctr"/>
                </a:tc>
                <a:extLst>
                  <a:ext uri="{0D108BD9-81ED-4DB2-BD59-A6C34878D82A}">
                    <a16:rowId xmlns:a16="http://schemas.microsoft.com/office/drawing/2014/main" val="3624412671"/>
                  </a:ext>
                </a:extLst>
              </a:tr>
              <a:tr h="1132523">
                <a:tc>
                  <a:txBody>
                    <a:bodyPr/>
                    <a:lstStyle/>
                    <a:p>
                      <a:pPr>
                        <a:buNone/>
                      </a:pPr>
                      <a:r>
                        <a:rPr lang="en-IN" sz="1050" b="1" dirty="0"/>
                        <a:t>[4]</a:t>
                      </a:r>
                      <a:endParaRPr lang="en-IN" sz="1050" dirty="0"/>
                    </a:p>
                  </a:txBody>
                  <a:tcPr marL="26415" marR="26415" marT="13207" marB="13207" anchor="ctr"/>
                </a:tc>
                <a:tc>
                  <a:txBody>
                    <a:bodyPr/>
                    <a:lstStyle/>
                    <a:p>
                      <a:pPr>
                        <a:buNone/>
                      </a:pPr>
                      <a:r>
                        <a:rPr lang="en-IN" sz="1050" dirty="0"/>
                        <a:t>Prasad et al., 2020</a:t>
                      </a:r>
                    </a:p>
                  </a:txBody>
                  <a:tcPr marL="26415" marR="26415" marT="13207" marB="13207" anchor="ctr"/>
                </a:tc>
                <a:tc>
                  <a:txBody>
                    <a:bodyPr/>
                    <a:lstStyle/>
                    <a:p>
                      <a:pPr>
                        <a:buNone/>
                      </a:pPr>
                      <a:r>
                        <a:rPr lang="en-US" sz="1050" dirty="0"/>
                        <a:t>HOG, LBP and SVM based Traffic Density Estimation at Intersection</a:t>
                      </a:r>
                    </a:p>
                  </a:txBody>
                  <a:tcPr marL="26415" marR="26415" marT="13207" marB="13207" anchor="ctr"/>
                </a:tc>
                <a:tc>
                  <a:txBody>
                    <a:bodyPr/>
                    <a:lstStyle/>
                    <a:p>
                      <a:pPr>
                        <a:buNone/>
                      </a:pPr>
                      <a:r>
                        <a:rPr lang="en-US" sz="1050"/>
                        <a:t>Image features (HOG + LBP) with SVM classifier on Raspberry Pi</a:t>
                      </a:r>
                    </a:p>
                  </a:txBody>
                  <a:tcPr marL="26415" marR="26415" marT="13207" marB="13207" anchor="ctr"/>
                </a:tc>
                <a:tc>
                  <a:txBody>
                    <a:bodyPr/>
                    <a:lstStyle/>
                    <a:p>
                      <a:pPr>
                        <a:buNone/>
                      </a:pPr>
                      <a:r>
                        <a:rPr lang="en-US" sz="1050"/>
                        <a:t>Achieved real-time density estimation at intersections with low computational cost</a:t>
                      </a:r>
                    </a:p>
                  </a:txBody>
                  <a:tcPr marL="26415" marR="26415" marT="13207" marB="13207" anchor="ctr"/>
                </a:tc>
                <a:tc>
                  <a:txBody>
                    <a:bodyPr/>
                    <a:lstStyle/>
                    <a:p>
                      <a:pPr>
                        <a:buNone/>
                      </a:pPr>
                      <a:r>
                        <a:rPr lang="en-US" sz="1050"/>
                        <a:t>Limited to single intersections; scalability for city-wide deployment not tested</a:t>
                      </a:r>
                    </a:p>
                  </a:txBody>
                  <a:tcPr marL="26415" marR="26415" marT="13207" marB="13207" anchor="ctr"/>
                </a:tc>
                <a:extLst>
                  <a:ext uri="{0D108BD9-81ED-4DB2-BD59-A6C34878D82A}">
                    <a16:rowId xmlns:a16="http://schemas.microsoft.com/office/drawing/2014/main" val="247182331"/>
                  </a:ext>
                </a:extLst>
              </a:tr>
              <a:tr h="913256">
                <a:tc>
                  <a:txBody>
                    <a:bodyPr/>
                    <a:lstStyle/>
                    <a:p>
                      <a:pPr>
                        <a:buNone/>
                      </a:pPr>
                      <a:r>
                        <a:rPr lang="en-IN" sz="1050" b="1" dirty="0"/>
                        <a:t>[5]</a:t>
                      </a:r>
                      <a:endParaRPr lang="en-IN" sz="1050" dirty="0"/>
                    </a:p>
                  </a:txBody>
                  <a:tcPr marL="26415" marR="26415" marT="13207" marB="13207" anchor="ctr"/>
                </a:tc>
                <a:tc>
                  <a:txBody>
                    <a:bodyPr/>
                    <a:lstStyle/>
                    <a:p>
                      <a:pPr>
                        <a:buNone/>
                      </a:pPr>
                      <a:r>
                        <a:rPr lang="en-IN" sz="1050"/>
                        <a:t>Zhang et al., 2021</a:t>
                      </a:r>
                    </a:p>
                  </a:txBody>
                  <a:tcPr marL="26415" marR="26415" marT="13207" marB="13207" anchor="ctr"/>
                </a:tc>
                <a:tc>
                  <a:txBody>
                    <a:bodyPr/>
                    <a:lstStyle/>
                    <a:p>
                      <a:pPr>
                        <a:buNone/>
                      </a:pPr>
                      <a:r>
                        <a:rPr lang="en-US" sz="1050"/>
                        <a:t>Research on Support Vector Machine in Traffic Detection Algorithm</a:t>
                      </a:r>
                    </a:p>
                  </a:txBody>
                  <a:tcPr marL="26415" marR="26415" marT="13207" marB="13207" anchor="ctr"/>
                </a:tc>
                <a:tc>
                  <a:txBody>
                    <a:bodyPr/>
                    <a:lstStyle/>
                    <a:p>
                      <a:pPr>
                        <a:buNone/>
                      </a:pPr>
                      <a:r>
                        <a:rPr lang="en-US" sz="1050"/>
                        <a:t>SVM-based automated incident detection with PCA for feature reduction</a:t>
                      </a:r>
                    </a:p>
                  </a:txBody>
                  <a:tcPr marL="26415" marR="26415" marT="13207" marB="13207" anchor="ctr"/>
                </a:tc>
                <a:tc>
                  <a:txBody>
                    <a:bodyPr/>
                    <a:lstStyle/>
                    <a:p>
                      <a:pPr>
                        <a:buNone/>
                      </a:pPr>
                      <a:r>
                        <a:rPr lang="en-US" sz="1050" dirty="0"/>
                        <a:t>Improved detection accuracy of incidents compared to traditional methods</a:t>
                      </a:r>
                    </a:p>
                  </a:txBody>
                  <a:tcPr marL="26415" marR="26415" marT="13207" marB="13207" anchor="ctr"/>
                </a:tc>
                <a:tc>
                  <a:txBody>
                    <a:bodyPr/>
                    <a:lstStyle/>
                    <a:p>
                      <a:pPr>
                        <a:buNone/>
                      </a:pPr>
                      <a:r>
                        <a:rPr lang="en-US" sz="1050" dirty="0"/>
                        <a:t>Tested only in limited environments; lacks real-world large-scale validation</a:t>
                      </a:r>
                    </a:p>
                  </a:txBody>
                  <a:tcPr marL="26415" marR="26415" marT="13207" marB="13207" anchor="ctr"/>
                </a:tc>
                <a:extLst>
                  <a:ext uri="{0D108BD9-81ED-4DB2-BD59-A6C34878D82A}">
                    <a16:rowId xmlns:a16="http://schemas.microsoft.com/office/drawing/2014/main" val="2906578019"/>
                  </a:ext>
                </a:extLst>
              </a:tr>
              <a:tr h="1132523">
                <a:tc>
                  <a:txBody>
                    <a:bodyPr/>
                    <a:lstStyle/>
                    <a:p>
                      <a:pPr>
                        <a:buNone/>
                      </a:pPr>
                      <a:r>
                        <a:rPr lang="en-IN" sz="1050" b="1" dirty="0"/>
                        <a:t>[6]</a:t>
                      </a:r>
                      <a:endParaRPr lang="en-IN" sz="1050" dirty="0"/>
                    </a:p>
                  </a:txBody>
                  <a:tcPr marL="26415" marR="26415" marT="13207" marB="13207" anchor="ctr"/>
                </a:tc>
                <a:tc>
                  <a:txBody>
                    <a:bodyPr/>
                    <a:lstStyle/>
                    <a:p>
                      <a:pPr>
                        <a:buNone/>
                      </a:pPr>
                      <a:r>
                        <a:rPr lang="en-IN" sz="1050"/>
                        <a:t>Li et al., 2018</a:t>
                      </a:r>
                    </a:p>
                  </a:txBody>
                  <a:tcPr marL="26415" marR="26415" marT="13207" marB="13207" anchor="ctr"/>
                </a:tc>
                <a:tc>
                  <a:txBody>
                    <a:bodyPr/>
                    <a:lstStyle/>
                    <a:p>
                      <a:pPr>
                        <a:buNone/>
                      </a:pPr>
                      <a:r>
                        <a:rPr lang="en-US" sz="1050" dirty="0"/>
                        <a:t>Traffic Flow Forecasting by Combination of SVM with PCA</a:t>
                      </a:r>
                    </a:p>
                  </a:txBody>
                  <a:tcPr marL="26415" marR="26415" marT="13207" marB="13207" anchor="ctr"/>
                </a:tc>
                <a:tc>
                  <a:txBody>
                    <a:bodyPr/>
                    <a:lstStyle/>
                    <a:p>
                      <a:pPr>
                        <a:buNone/>
                      </a:pPr>
                      <a:r>
                        <a:rPr lang="en-US" sz="1050"/>
                        <a:t>PCA for dimensionality reduction + SVM regression for flow prediction</a:t>
                      </a:r>
                    </a:p>
                  </a:txBody>
                  <a:tcPr marL="26415" marR="26415" marT="13207" marB="13207" anchor="ctr"/>
                </a:tc>
                <a:tc>
                  <a:txBody>
                    <a:bodyPr/>
                    <a:lstStyle/>
                    <a:p>
                      <a:pPr>
                        <a:buNone/>
                      </a:pPr>
                      <a:r>
                        <a:rPr lang="en-US" sz="1050"/>
                        <a:t>Enhanced prediction precision and faster computation for real-time traffic flow</a:t>
                      </a:r>
                    </a:p>
                  </a:txBody>
                  <a:tcPr marL="26415" marR="26415" marT="13207" marB="13207" anchor="ctr"/>
                </a:tc>
                <a:tc>
                  <a:txBody>
                    <a:bodyPr/>
                    <a:lstStyle/>
                    <a:p>
                      <a:pPr>
                        <a:buNone/>
                      </a:pPr>
                      <a:r>
                        <a:rPr lang="en-US" sz="1050"/>
                        <a:t>Focused only on forecasting; not integrated with adaptive signal control</a:t>
                      </a:r>
                    </a:p>
                  </a:txBody>
                  <a:tcPr marL="26415" marR="26415" marT="13207" marB="13207" anchor="ctr"/>
                </a:tc>
                <a:extLst>
                  <a:ext uri="{0D108BD9-81ED-4DB2-BD59-A6C34878D82A}">
                    <a16:rowId xmlns:a16="http://schemas.microsoft.com/office/drawing/2014/main" val="3634204686"/>
                  </a:ext>
                </a:extLst>
              </a:tr>
              <a:tr h="913256">
                <a:tc>
                  <a:txBody>
                    <a:bodyPr/>
                    <a:lstStyle/>
                    <a:p>
                      <a:pPr>
                        <a:buNone/>
                      </a:pPr>
                      <a:r>
                        <a:rPr lang="en-IN" sz="1050" b="1" dirty="0"/>
                        <a:t>[7]</a:t>
                      </a:r>
                      <a:endParaRPr lang="en-IN" sz="1050" dirty="0"/>
                    </a:p>
                  </a:txBody>
                  <a:tcPr marL="26415" marR="26415" marT="13207" marB="13207" anchor="ctr"/>
                </a:tc>
                <a:tc>
                  <a:txBody>
                    <a:bodyPr/>
                    <a:lstStyle/>
                    <a:p>
                      <a:pPr>
                        <a:buNone/>
                      </a:pPr>
                      <a:r>
                        <a:rPr lang="en-IN" sz="1050"/>
                        <a:t>Wang et al., 2019</a:t>
                      </a:r>
                    </a:p>
                  </a:txBody>
                  <a:tcPr marL="26415" marR="26415" marT="13207" marB="13207" anchor="ctr"/>
                </a:tc>
                <a:tc>
                  <a:txBody>
                    <a:bodyPr/>
                    <a:lstStyle/>
                    <a:p>
                      <a:pPr>
                        <a:buNone/>
                      </a:pPr>
                      <a:r>
                        <a:rPr lang="en-US" sz="1050"/>
                        <a:t>Research on SVM-Based Highway Traffic Safety Evaluation Model</a:t>
                      </a:r>
                    </a:p>
                  </a:txBody>
                  <a:tcPr marL="26415" marR="26415" marT="13207" marB="13207" anchor="ctr"/>
                </a:tc>
                <a:tc>
                  <a:txBody>
                    <a:bodyPr/>
                    <a:lstStyle/>
                    <a:p>
                      <a:pPr>
                        <a:buNone/>
                      </a:pPr>
                      <a:r>
                        <a:rPr lang="en-US" sz="1050"/>
                        <a:t>Multi-class SVM with AHP-based index system</a:t>
                      </a:r>
                    </a:p>
                  </a:txBody>
                  <a:tcPr marL="26415" marR="26415" marT="13207" marB="13207" anchor="ctr"/>
                </a:tc>
                <a:tc>
                  <a:txBody>
                    <a:bodyPr/>
                    <a:lstStyle/>
                    <a:p>
                      <a:pPr>
                        <a:buNone/>
                      </a:pPr>
                      <a:r>
                        <a:rPr lang="en-US" sz="1050"/>
                        <a:t>Effective classification of highway traffic safety levels</a:t>
                      </a:r>
                    </a:p>
                  </a:txBody>
                  <a:tcPr marL="26415" marR="26415" marT="13207" marB="13207" anchor="ctr"/>
                </a:tc>
                <a:tc>
                  <a:txBody>
                    <a:bodyPr/>
                    <a:lstStyle/>
                    <a:p>
                      <a:pPr>
                        <a:buNone/>
                      </a:pPr>
                      <a:r>
                        <a:rPr lang="en-US" sz="1050" dirty="0"/>
                        <a:t>Oriented towards highway safety, not urban congestion management</a:t>
                      </a:r>
                    </a:p>
                  </a:txBody>
                  <a:tcPr marL="26415" marR="26415" marT="13207" marB="13207" anchor="ctr"/>
                </a:tc>
                <a:extLst>
                  <a:ext uri="{0D108BD9-81ED-4DB2-BD59-A6C34878D82A}">
                    <a16:rowId xmlns:a16="http://schemas.microsoft.com/office/drawing/2014/main" val="4232306170"/>
                  </a:ext>
                </a:extLst>
              </a:tr>
            </a:tbl>
          </a:graphicData>
        </a:graphic>
      </p:graphicFrame>
    </p:spTree>
    <p:extLst>
      <p:ext uri="{BB962C8B-B14F-4D97-AF65-F5344CB8AC3E}">
        <p14:creationId xmlns:p14="http://schemas.microsoft.com/office/powerpoint/2010/main" val="31930312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0ECA2-A957-E7CA-426E-3FA1062D9ADD}"/>
              </a:ext>
            </a:extLst>
          </p:cNvPr>
          <p:cNvSpPr>
            <a:spLocks noGrp="1"/>
          </p:cNvSpPr>
          <p:nvPr>
            <p:ph type="title"/>
          </p:nvPr>
        </p:nvSpPr>
        <p:spPr/>
        <p:txBody>
          <a:bodyPr>
            <a:normAutofit fontScale="90000"/>
          </a:bodyPr>
          <a:lstStyle/>
          <a:p>
            <a:r>
              <a:rPr lang="en-IN" dirty="0"/>
              <a:t>6. Conclusion</a:t>
            </a:r>
          </a:p>
        </p:txBody>
      </p:sp>
      <p:sp>
        <p:nvSpPr>
          <p:cNvPr id="3" name="Text Placeholder 2">
            <a:extLst>
              <a:ext uri="{FF2B5EF4-FFF2-40B4-BE49-F238E27FC236}">
                <a16:creationId xmlns:a16="http://schemas.microsoft.com/office/drawing/2014/main" id="{3504C95C-5A2C-CB2A-CD56-C84132E1C8B3}"/>
              </a:ext>
            </a:extLst>
          </p:cNvPr>
          <p:cNvSpPr>
            <a:spLocks noGrp="1"/>
          </p:cNvSpPr>
          <p:nvPr>
            <p:ph type="body" idx="1"/>
          </p:nvPr>
        </p:nvSpPr>
        <p:spPr/>
        <p:txBody>
          <a:bodyPr>
            <a:normAutofit/>
          </a:bodyPr>
          <a:lstStyle/>
          <a:p>
            <a:pPr marL="114300" indent="0">
              <a:buNone/>
            </a:pPr>
            <a:r>
              <a:rPr lang="en-US" sz="1500" dirty="0">
                <a:solidFill>
                  <a:schemeClr val="tx1"/>
                </a:solidFill>
              </a:rPr>
              <a:t>Traffic congestion remains one of the biggest urban challenges, leading to fuel wastage, pollution, and reduced quality of life. Traditional traffic systems are unable to adapt to real-time conditions, highlighting the need for smarter solutions. Through our study, we found that AI-based approaches, particularly Support Vector Machines (SVM), show great potential in traffic density estimation, flow prediction, and congestion classification. However, most existing works focus on detection and forecasting rather than direct integration with adaptive traffic signal control. Our project aims to bridge this gap by proposing an AI-driven traffic management system that ensures efficient mobility, reduces environmental impact, and contributes to the vision of sustainable smart cities.</a:t>
            </a:r>
            <a:endParaRPr lang="en-IN" sz="1500" dirty="0">
              <a:solidFill>
                <a:schemeClr val="tx1"/>
              </a:solidFill>
            </a:endParaRPr>
          </a:p>
        </p:txBody>
      </p:sp>
      <p:sp>
        <p:nvSpPr>
          <p:cNvPr id="4" name="Slide Number Placeholder 3">
            <a:extLst>
              <a:ext uri="{FF2B5EF4-FFF2-40B4-BE49-F238E27FC236}">
                <a16:creationId xmlns:a16="http://schemas.microsoft.com/office/drawing/2014/main" id="{5B624B37-40C0-C197-2878-D682600927B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a:p>
        </p:txBody>
      </p:sp>
    </p:spTree>
    <p:extLst>
      <p:ext uri="{BB962C8B-B14F-4D97-AF65-F5344CB8AC3E}">
        <p14:creationId xmlns:p14="http://schemas.microsoft.com/office/powerpoint/2010/main" val="3832926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92591-F326-4747-5FD5-513EEF086C28}"/>
              </a:ext>
            </a:extLst>
          </p:cNvPr>
          <p:cNvSpPr>
            <a:spLocks noGrp="1"/>
          </p:cNvSpPr>
          <p:nvPr>
            <p:ph type="title"/>
          </p:nvPr>
        </p:nvSpPr>
        <p:spPr>
          <a:xfrm>
            <a:off x="311700" y="391319"/>
            <a:ext cx="8520600" cy="572700"/>
          </a:xfrm>
        </p:spPr>
        <p:txBody>
          <a:bodyPr>
            <a:normAutofit fontScale="90000"/>
          </a:bodyPr>
          <a:lstStyle/>
          <a:p>
            <a:r>
              <a:rPr lang="en-IN" dirty="0"/>
              <a:t>References :</a:t>
            </a:r>
          </a:p>
        </p:txBody>
      </p:sp>
      <p:sp>
        <p:nvSpPr>
          <p:cNvPr id="3" name="Text Placeholder 2">
            <a:extLst>
              <a:ext uri="{FF2B5EF4-FFF2-40B4-BE49-F238E27FC236}">
                <a16:creationId xmlns:a16="http://schemas.microsoft.com/office/drawing/2014/main" id="{BA36608C-A13B-8C6D-D72A-CB7663F940C6}"/>
              </a:ext>
            </a:extLst>
          </p:cNvPr>
          <p:cNvSpPr>
            <a:spLocks noGrp="1"/>
          </p:cNvSpPr>
          <p:nvPr>
            <p:ph type="body" idx="1"/>
          </p:nvPr>
        </p:nvSpPr>
        <p:spPr>
          <a:xfrm>
            <a:off x="311700" y="1017725"/>
            <a:ext cx="8520600" cy="3734456"/>
          </a:xfrm>
        </p:spPr>
        <p:txBody>
          <a:bodyPr>
            <a:noAutofit/>
          </a:bodyPr>
          <a:lstStyle/>
          <a:p>
            <a:r>
              <a:rPr lang="en-US" sz="1200" dirty="0">
                <a:solidFill>
                  <a:schemeClr val="tx1"/>
                </a:solidFill>
              </a:rPr>
              <a:t>[1] A. V. Prasad, A. Patel, and P. Gupta, “HOG, LBP and SVM based Traffic Density Estimation at Intersection,” </a:t>
            </a:r>
            <a:r>
              <a:rPr lang="en-US" sz="1200" i="1" dirty="0" err="1">
                <a:solidFill>
                  <a:schemeClr val="tx1"/>
                </a:solidFill>
              </a:rPr>
              <a:t>arXiv</a:t>
            </a:r>
            <a:r>
              <a:rPr lang="en-US" sz="1200" i="1" dirty="0">
                <a:solidFill>
                  <a:schemeClr val="tx1"/>
                </a:solidFill>
              </a:rPr>
              <a:t> preprint arXiv:2005.01770</a:t>
            </a:r>
            <a:r>
              <a:rPr lang="en-US" sz="1200" dirty="0">
                <a:solidFill>
                  <a:schemeClr val="tx1"/>
                </a:solidFill>
              </a:rPr>
              <a:t>, pp. 1–6, May 2020.</a:t>
            </a:r>
          </a:p>
          <a:p>
            <a:r>
              <a:rPr lang="en-US" sz="1200" dirty="0">
                <a:solidFill>
                  <a:schemeClr val="tx1"/>
                </a:solidFill>
              </a:rPr>
              <a:t>[2] Y. Zhang, H. Li, and J. Liu, “Research on Support Vector Machine in Traffic Detection Algorithm,” in </a:t>
            </a:r>
            <a:r>
              <a:rPr lang="en-US" sz="1200" i="1" dirty="0">
                <a:solidFill>
                  <a:schemeClr val="tx1"/>
                </a:solidFill>
              </a:rPr>
              <a:t>Proceedings of the International Conference on Artificial Intelligence and Computer Engineering</a:t>
            </a:r>
            <a:r>
              <a:rPr lang="en-US" sz="1200" dirty="0">
                <a:solidFill>
                  <a:schemeClr val="tx1"/>
                </a:solidFill>
              </a:rPr>
              <a:t>, pp. 189–198, Springer, 2021.</a:t>
            </a:r>
          </a:p>
          <a:p>
            <a:r>
              <a:rPr lang="en-US" sz="1200" dirty="0">
                <a:solidFill>
                  <a:schemeClr val="tx1"/>
                </a:solidFill>
              </a:rPr>
              <a:t>[3] Z. Li, Y. Wang, and X. Wang, “Traffic Flow Forecasting by Combination of SVM with PCA,” </a:t>
            </a:r>
            <a:r>
              <a:rPr lang="en-US" sz="1200" i="1" dirty="0">
                <a:solidFill>
                  <a:schemeClr val="tx1"/>
                </a:solidFill>
              </a:rPr>
              <a:t>Journal of Highway and Transportation Research and Development</a:t>
            </a:r>
            <a:r>
              <a:rPr lang="en-US" sz="1200" dirty="0">
                <a:solidFill>
                  <a:schemeClr val="tx1"/>
                </a:solidFill>
              </a:rPr>
              <a:t>, vol. 12, no. 2, pp. 112–119, Jun. 2018.</a:t>
            </a:r>
          </a:p>
          <a:p>
            <a:r>
              <a:rPr lang="en-US" sz="1200" dirty="0">
                <a:solidFill>
                  <a:schemeClr val="tx1"/>
                </a:solidFill>
              </a:rPr>
              <a:t>[4] J. Wang, C. Sun, and L. Zhou, “Research on SVM-Based Highway Traffic Safety Evaluation Model,” in </a:t>
            </a:r>
            <a:r>
              <a:rPr lang="en-US" sz="1200" i="1" dirty="0">
                <a:solidFill>
                  <a:schemeClr val="tx1"/>
                </a:solidFill>
              </a:rPr>
              <a:t>Proceedings of the International Conference on Transportation Information and Safety</a:t>
            </a:r>
            <a:r>
              <a:rPr lang="en-US" sz="1200" dirty="0">
                <a:solidFill>
                  <a:schemeClr val="tx1"/>
                </a:solidFill>
              </a:rPr>
              <a:t>, pp. 654–660, Springer, 2019.</a:t>
            </a:r>
          </a:p>
          <a:p>
            <a:r>
              <a:rPr lang="en-US" sz="1200" dirty="0">
                <a:solidFill>
                  <a:schemeClr val="tx1"/>
                </a:solidFill>
              </a:rPr>
              <a:t>[5] B. Park and C. Messer, “The Application of Support Vector Machines (SVM) for Traffic Condition Prediction,” in </a:t>
            </a:r>
            <a:r>
              <a:rPr lang="en-US" sz="1200" i="1" dirty="0">
                <a:solidFill>
                  <a:schemeClr val="tx1"/>
                </a:solidFill>
              </a:rPr>
              <a:t>Proceedings of the IEEE Intelligent Transportation Systems Conference</a:t>
            </a:r>
            <a:r>
              <a:rPr lang="en-US" sz="1200" dirty="0">
                <a:solidFill>
                  <a:schemeClr val="tx1"/>
                </a:solidFill>
              </a:rPr>
              <a:t>, pp. 1073–1078, IEEE, Sep. 2005.</a:t>
            </a:r>
          </a:p>
          <a:p>
            <a:r>
              <a:rPr lang="en-US" sz="1200" dirty="0">
                <a:solidFill>
                  <a:schemeClr val="tx1"/>
                </a:solidFill>
              </a:rPr>
              <a:t>[6] P. </a:t>
            </a:r>
            <a:r>
              <a:rPr lang="en-US" sz="1200" dirty="0" err="1">
                <a:solidFill>
                  <a:schemeClr val="tx1"/>
                </a:solidFill>
              </a:rPr>
              <a:t>Shirsath</a:t>
            </a:r>
            <a:r>
              <a:rPr lang="en-US" sz="1200" dirty="0">
                <a:solidFill>
                  <a:schemeClr val="tx1"/>
                </a:solidFill>
              </a:rPr>
              <a:t>, S. </a:t>
            </a:r>
            <a:r>
              <a:rPr lang="en-US" sz="1200" dirty="0" err="1">
                <a:solidFill>
                  <a:schemeClr val="tx1"/>
                </a:solidFill>
              </a:rPr>
              <a:t>Gajbhiye</a:t>
            </a:r>
            <a:r>
              <a:rPr lang="en-US" sz="1200" dirty="0">
                <a:solidFill>
                  <a:schemeClr val="tx1"/>
                </a:solidFill>
              </a:rPr>
              <a:t>, and V. Deshmukh, “Intelligent Traffic Management for Vehicular Networks using Machine Learning,” </a:t>
            </a:r>
            <a:r>
              <a:rPr lang="en-US" sz="1200" i="1" dirty="0">
                <a:solidFill>
                  <a:schemeClr val="tx1"/>
                </a:solidFill>
              </a:rPr>
              <a:t>International Journal of Advanced Computer Science and Applications (IJACSA)</a:t>
            </a:r>
            <a:r>
              <a:rPr lang="en-US" sz="1200" dirty="0">
                <a:solidFill>
                  <a:schemeClr val="tx1"/>
                </a:solidFill>
              </a:rPr>
              <a:t>, vol. 15, no. 4, pp. 244–251, Apr. 2024.</a:t>
            </a:r>
          </a:p>
          <a:p>
            <a:r>
              <a:rPr lang="en-US" sz="1200" dirty="0">
                <a:solidFill>
                  <a:schemeClr val="tx1"/>
                </a:solidFill>
              </a:rPr>
              <a:t>[7] L. Chen, Y. Xu, and M. Zhao, “A SVM Approach for Assessing Traffic Congestion State by Similarity Measures,” in </a:t>
            </a:r>
            <a:r>
              <a:rPr lang="en-US" sz="1200" i="1" dirty="0">
                <a:solidFill>
                  <a:schemeClr val="tx1"/>
                </a:solidFill>
              </a:rPr>
              <a:t>Proceedings of the International Conference on Intelligent Transportation Systems and Networks</a:t>
            </a:r>
            <a:r>
              <a:rPr lang="en-US" sz="1200" dirty="0">
                <a:solidFill>
                  <a:schemeClr val="tx1"/>
                </a:solidFill>
              </a:rPr>
              <a:t>, pp. 55–64, Springer, 2022.</a:t>
            </a:r>
          </a:p>
        </p:txBody>
      </p:sp>
      <p:sp>
        <p:nvSpPr>
          <p:cNvPr id="4" name="Slide Number Placeholder 3">
            <a:extLst>
              <a:ext uri="{FF2B5EF4-FFF2-40B4-BE49-F238E27FC236}">
                <a16:creationId xmlns:a16="http://schemas.microsoft.com/office/drawing/2014/main" id="{C4B19589-6CA4-5B25-8845-5956683ECA3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a:t>
            </a:fld>
            <a:endParaRPr lang="en"/>
          </a:p>
        </p:txBody>
      </p:sp>
    </p:spTree>
    <p:extLst>
      <p:ext uri="{BB962C8B-B14F-4D97-AF65-F5344CB8AC3E}">
        <p14:creationId xmlns:p14="http://schemas.microsoft.com/office/powerpoint/2010/main" val="34002616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pic>
        <p:nvPicPr>
          <p:cNvPr id="3" name="Picture 2">
            <a:extLst>
              <a:ext uri="{FF2B5EF4-FFF2-40B4-BE49-F238E27FC236}">
                <a16:creationId xmlns:a16="http://schemas.microsoft.com/office/drawing/2014/main" id="{DCF1D441-63C0-B23A-8CAD-8290879EC7FB}"/>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0" y="-10408"/>
            <a:ext cx="9143999" cy="5153908"/>
          </a:xfrm>
          <a:prstGeom prst="rect">
            <a:avLst/>
          </a:prstGeom>
        </p:spPr>
      </p:pic>
      <p:sp>
        <p:nvSpPr>
          <p:cNvPr id="126" name="Google Shape;126;g37934ae196a_0_161"/>
          <p:cNvSpPr txBox="1">
            <a:spLocks noGrp="1"/>
          </p:cNvSpPr>
          <p:nvPr>
            <p:ph type="body" idx="1"/>
          </p:nvPr>
        </p:nvSpPr>
        <p:spPr>
          <a:xfrm>
            <a:off x="2360544" y="0"/>
            <a:ext cx="4260262" cy="914401"/>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Clr>
                <a:schemeClr val="dk1"/>
              </a:buClr>
              <a:buSzPts val="2700"/>
              <a:buFont typeface="Arial"/>
              <a:buNone/>
            </a:pPr>
            <a:r>
              <a:rPr lang="en" sz="4100" b="1" u="sng" dirty="0">
                <a:solidFill>
                  <a:schemeClr val="dk1"/>
                </a:solidFill>
                <a:latin typeface="Times New Roman"/>
                <a:ea typeface="Times New Roman"/>
                <a:cs typeface="Times New Roman"/>
                <a:sym typeface="Times New Roman"/>
              </a:rPr>
              <a:t>Any Questions ?</a:t>
            </a:r>
            <a:endParaRPr sz="4100" b="1" u="sng" dirty="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pic>
        <p:nvPicPr>
          <p:cNvPr id="8" name="Picture 7">
            <a:extLst>
              <a:ext uri="{FF2B5EF4-FFF2-40B4-BE49-F238E27FC236}">
                <a16:creationId xmlns:a16="http://schemas.microsoft.com/office/drawing/2014/main" id="{8D12AA09-CECB-4848-4B43-A605E6D41782}"/>
              </a:ext>
            </a:extLst>
          </p:cNvPr>
          <p:cNvPicPr>
            <a:picLocks noChangeAspect="1"/>
          </p:cNvPicPr>
          <p:nvPr/>
        </p:nvPicPr>
        <p:blipFill>
          <a:blip r:embed="rId3"/>
          <a:stretch>
            <a:fillRect/>
          </a:stretch>
        </p:blipFill>
        <p:spPr>
          <a:xfrm>
            <a:off x="2000250" y="0"/>
            <a:ext cx="5143500" cy="5143500"/>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269</TotalTime>
  <Words>1407</Words>
  <Application>Microsoft Office PowerPoint</Application>
  <PresentationFormat>On-screen Show (16:9)</PresentationFormat>
  <Paragraphs>123</Paragraphs>
  <Slides>12</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Times New Roman</vt:lpstr>
      <vt:lpstr>Simple Light</vt:lpstr>
      <vt:lpstr>PowerPoint Presentation</vt:lpstr>
      <vt:lpstr>Working Model :</vt:lpstr>
      <vt:lpstr>1. Introduction</vt:lpstr>
      <vt:lpstr>2. Motivation</vt:lpstr>
      <vt:lpstr>3. Problem Statement</vt:lpstr>
      <vt:lpstr>4. Scope and Objective</vt:lpstr>
      <vt:lpstr>5. Literature Survey</vt:lpstr>
      <vt:lpstr>PowerPoint Presentation</vt:lpstr>
      <vt:lpstr>6. Conclusion</vt:lpstr>
      <vt:lpstr>References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Manaswin Sripatnala</cp:lastModifiedBy>
  <cp:revision>6</cp:revision>
  <dcterms:modified xsi:type="dcterms:W3CDTF">2025-10-15T09:00:46Z</dcterms:modified>
</cp:coreProperties>
</file>